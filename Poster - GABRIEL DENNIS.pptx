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693400" cy="15113000"/>
  <p:notesSz cx="6858000" cy="9144000"/>
  <p:embeddedFontLst>
    <p:embeddedFont>
      <p:font typeface="Open Sans Bold" charset="1" panose="020B0806030504020204"/>
      <p:regular r:id="rId7"/>
    </p:embeddedFont>
    <p:embeddedFont>
      <p:font typeface="League Spartan" charset="1" panose="00000800000000000000"/>
      <p:regular r:id="rId8"/>
    </p:embeddedFont>
    <p:embeddedFont>
      <p:font typeface="Open Sans" charset="1" panose="020B0606030504020204"/>
      <p:regular r:id="rId9"/>
    </p:embeddedFont>
    <p:embeddedFont>
      <p:font typeface="Poppins Medium" charset="1" panose="00000600000000000000"/>
      <p:regular r:id="rId10"/>
    </p:embeddedFont>
    <p:embeddedFont>
      <p:font typeface="Poppins" charset="1" panose="00000500000000000000"/>
      <p:regular r:id="rId11"/>
    </p:embeddedFont>
    <p:embeddedFont>
      <p:font typeface="Open Sans Bold Italics" charset="1" panose="020B0806030504020204"/>
      <p:regular r:id="rId12"/>
    </p:embeddedFont>
    <p:embeddedFont>
      <p:font typeface="Open Sans Italics" charset="1" panose="020B0606030504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png" Type="http://schemas.openxmlformats.org/officeDocument/2006/relationships/image"/><Relationship Id="rId22" Target="../media/image21.png" Type="http://schemas.openxmlformats.org/officeDocument/2006/relationships/image"/><Relationship Id="rId23" Target="../media/image22.png" Type="http://schemas.openxmlformats.org/officeDocument/2006/relationships/image"/><Relationship Id="rId24" Target="../media/image23.png" Type="http://schemas.openxmlformats.org/officeDocument/2006/relationships/image"/><Relationship Id="rId25" Target="../media/image24.png" Type="http://schemas.openxmlformats.org/officeDocument/2006/relationships/image"/><Relationship Id="rId26" Target="../media/image25.png" Type="http://schemas.openxmlformats.org/officeDocument/2006/relationships/image"/><Relationship Id="rId27" Target="../media/image26.png" Type="http://schemas.openxmlformats.org/officeDocument/2006/relationships/image"/><Relationship Id="rId28" Target="../media/image27.png" Type="http://schemas.openxmlformats.org/officeDocument/2006/relationships/image"/><Relationship Id="rId29" Target="../media/image28.pn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31" Target="../media/image30.png" Type="http://schemas.openxmlformats.org/officeDocument/2006/relationships/image"/><Relationship Id="rId32" Target="../media/image31.png" Type="http://schemas.openxmlformats.org/officeDocument/2006/relationships/image"/><Relationship Id="rId33" Target="../media/image32.png" Type="http://schemas.openxmlformats.org/officeDocument/2006/relationships/image"/><Relationship Id="rId34" Target="../media/image33.png" Type="http://schemas.openxmlformats.org/officeDocument/2006/relationships/image"/><Relationship Id="rId35" Target="../media/image34.png" Type="http://schemas.openxmlformats.org/officeDocument/2006/relationships/image"/><Relationship Id="rId36" Target="../media/image35.png" Type="http://schemas.openxmlformats.org/officeDocument/2006/relationships/image"/><Relationship Id="rId37" Target="../media/image36.png" Type="http://schemas.openxmlformats.org/officeDocument/2006/relationships/image"/><Relationship Id="rId38" Target="../media/image37.jpeg" Type="http://schemas.openxmlformats.org/officeDocument/2006/relationships/image"/><Relationship Id="rId39" Target="../media/image38.png" Type="http://schemas.openxmlformats.org/officeDocument/2006/relationships/image"/><Relationship Id="rId4" Target="../media/image3.png" Type="http://schemas.openxmlformats.org/officeDocument/2006/relationships/image"/><Relationship Id="rId40" Target="../media/image39.png" Type="http://schemas.openxmlformats.org/officeDocument/2006/relationships/image"/><Relationship Id="rId41" Target="../media/image40.png" Type="http://schemas.openxmlformats.org/officeDocument/2006/relationships/image"/><Relationship Id="rId42" Target="../media/image41.png" Type="http://schemas.openxmlformats.org/officeDocument/2006/relationships/image"/><Relationship Id="rId43" Target="../media/image42.png" Type="http://schemas.openxmlformats.org/officeDocument/2006/relationships/image"/><Relationship Id="rId44" Target="https://www.dreamstime.com/blog/tip-week-adjusting-exposure-post-processing-51136" TargetMode="External" Type="http://schemas.openxmlformats.org/officeDocument/2006/relationships/hyperlink"/><Relationship Id="rId45" Target="https://www.androidauthority.com/what-is-computational-photography-3218656/" TargetMode="External" Type="http://schemas.openxmlformats.org/officeDocument/2006/relationships/hyperlink"/><Relationship Id="rId46" Target="../media/image43.png" Type="http://schemas.openxmlformats.org/officeDocument/2006/relationships/image"/><Relationship Id="rId47" Target="../media/image44.sv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85405" y="0"/>
            <a:ext cx="14694092" cy="1490518"/>
            <a:chOff x="0" y="0"/>
            <a:chExt cx="3723836" cy="377733"/>
          </a:xfrm>
        </p:grpSpPr>
        <p:sp>
          <p:nvSpPr>
            <p:cNvPr name="Freeform 3" id="3"/>
            <p:cNvSpPr/>
            <p:nvPr/>
          </p:nvSpPr>
          <p:spPr>
            <a:xfrm flipH="false" flipV="false" rot="0">
              <a:off x="0" y="0"/>
              <a:ext cx="3723836" cy="377733"/>
            </a:xfrm>
            <a:custGeom>
              <a:avLst/>
              <a:gdLst/>
              <a:ahLst/>
              <a:cxnLst/>
              <a:rect r="r" b="b" t="t" l="l"/>
              <a:pathLst>
                <a:path h="377733" w="3723836">
                  <a:moveTo>
                    <a:pt x="0" y="0"/>
                  </a:moveTo>
                  <a:lnTo>
                    <a:pt x="3723836" y="0"/>
                  </a:lnTo>
                  <a:lnTo>
                    <a:pt x="3723836" y="377733"/>
                  </a:lnTo>
                  <a:lnTo>
                    <a:pt x="0" y="377733"/>
                  </a:lnTo>
                  <a:close/>
                </a:path>
              </a:pathLst>
            </a:custGeom>
            <a:solidFill>
              <a:srgbClr val="567554"/>
            </a:solidFill>
          </p:spPr>
        </p:sp>
        <p:sp>
          <p:nvSpPr>
            <p:cNvPr name="TextBox 4" id="4"/>
            <p:cNvSpPr txBox="true"/>
            <p:nvPr/>
          </p:nvSpPr>
          <p:spPr>
            <a:xfrm>
              <a:off x="0" y="-38100"/>
              <a:ext cx="3723836" cy="415833"/>
            </a:xfrm>
            <a:prstGeom prst="rect">
              <a:avLst/>
            </a:prstGeom>
          </p:spPr>
          <p:txBody>
            <a:bodyPr anchor="ctr" rtlCol="false" tIns="35919" lIns="35919" bIns="35919" rIns="35919"/>
            <a:lstStyle/>
            <a:p>
              <a:pPr algn="ctr">
                <a:lnSpc>
                  <a:spcPts val="2870"/>
                </a:lnSpc>
                <a:spcBef>
                  <a:spcPct val="0"/>
                </a:spcBef>
              </a:pPr>
            </a:p>
          </p:txBody>
        </p:sp>
      </p:grpSp>
      <p:grpSp>
        <p:nvGrpSpPr>
          <p:cNvPr name="Group 5" id="5"/>
          <p:cNvGrpSpPr/>
          <p:nvPr/>
        </p:nvGrpSpPr>
        <p:grpSpPr>
          <a:xfrm rot="0">
            <a:off x="130168" y="7106298"/>
            <a:ext cx="5064871" cy="1134496"/>
            <a:chOff x="0" y="0"/>
            <a:chExt cx="1283429" cy="287479"/>
          </a:xfrm>
        </p:grpSpPr>
        <p:sp>
          <p:nvSpPr>
            <p:cNvPr name="Freeform 6" id="6"/>
            <p:cNvSpPr/>
            <p:nvPr/>
          </p:nvSpPr>
          <p:spPr>
            <a:xfrm flipH="false" flipV="false" rot="0">
              <a:off x="0" y="0"/>
              <a:ext cx="1283429" cy="287479"/>
            </a:xfrm>
            <a:custGeom>
              <a:avLst/>
              <a:gdLst/>
              <a:ahLst/>
              <a:cxnLst/>
              <a:rect r="r" b="b" t="t" l="l"/>
              <a:pathLst>
                <a:path h="287479" w="1283429">
                  <a:moveTo>
                    <a:pt x="30571" y="0"/>
                  </a:moveTo>
                  <a:lnTo>
                    <a:pt x="1252858" y="0"/>
                  </a:lnTo>
                  <a:cubicBezTo>
                    <a:pt x="1269742" y="0"/>
                    <a:pt x="1283429" y="13687"/>
                    <a:pt x="1283429" y="30571"/>
                  </a:cubicBezTo>
                  <a:lnTo>
                    <a:pt x="1283429" y="256908"/>
                  </a:lnTo>
                  <a:cubicBezTo>
                    <a:pt x="1283429" y="273792"/>
                    <a:pt x="1269742" y="287479"/>
                    <a:pt x="1252858" y="287479"/>
                  </a:cubicBezTo>
                  <a:lnTo>
                    <a:pt x="30571" y="287479"/>
                  </a:lnTo>
                  <a:cubicBezTo>
                    <a:pt x="13687" y="287479"/>
                    <a:pt x="0" y="273792"/>
                    <a:pt x="0" y="256908"/>
                  </a:cubicBezTo>
                  <a:lnTo>
                    <a:pt x="0" y="30571"/>
                  </a:lnTo>
                  <a:cubicBezTo>
                    <a:pt x="0" y="13687"/>
                    <a:pt x="13687" y="0"/>
                    <a:pt x="30571" y="0"/>
                  </a:cubicBezTo>
                  <a:close/>
                </a:path>
              </a:pathLst>
            </a:custGeom>
            <a:solidFill>
              <a:srgbClr val="567554"/>
            </a:solidFill>
            <a:ln cap="sq">
              <a:noFill/>
              <a:prstDash val="solid"/>
              <a:miter/>
            </a:ln>
          </p:spPr>
        </p:sp>
        <p:sp>
          <p:nvSpPr>
            <p:cNvPr name="TextBox 7" id="7"/>
            <p:cNvSpPr txBox="true"/>
            <p:nvPr/>
          </p:nvSpPr>
          <p:spPr>
            <a:xfrm>
              <a:off x="0" y="-38100"/>
              <a:ext cx="1283429" cy="325579"/>
            </a:xfrm>
            <a:prstGeom prst="rect">
              <a:avLst/>
            </a:prstGeom>
          </p:spPr>
          <p:txBody>
            <a:bodyPr anchor="ctr" rtlCol="false" tIns="50800" lIns="50800" bIns="50800" rIns="50800"/>
            <a:lstStyle/>
            <a:p>
              <a:pPr algn="ctr">
                <a:lnSpc>
                  <a:spcPts val="2870"/>
                </a:lnSpc>
              </a:pPr>
            </a:p>
          </p:txBody>
        </p:sp>
      </p:grpSp>
      <p:sp>
        <p:nvSpPr>
          <p:cNvPr name="AutoShape 8" id="8"/>
          <p:cNvSpPr/>
          <p:nvPr/>
        </p:nvSpPr>
        <p:spPr>
          <a:xfrm>
            <a:off x="5141" y="6798813"/>
            <a:ext cx="5251927" cy="0"/>
          </a:xfrm>
          <a:prstGeom prst="line">
            <a:avLst/>
          </a:prstGeom>
          <a:ln cap="flat" w="28575">
            <a:solidFill>
              <a:srgbClr val="968769"/>
            </a:solidFill>
            <a:prstDash val="lgDash"/>
            <a:headEnd type="none" len="sm" w="sm"/>
            <a:tailEnd type="none" len="sm" w="sm"/>
          </a:ln>
        </p:spPr>
      </p:sp>
      <p:sp>
        <p:nvSpPr>
          <p:cNvPr name="AutoShape 9" id="9"/>
          <p:cNvSpPr/>
          <p:nvPr/>
        </p:nvSpPr>
        <p:spPr>
          <a:xfrm flipV="true">
            <a:off x="5245629" y="1519093"/>
            <a:ext cx="918" cy="6815942"/>
          </a:xfrm>
          <a:prstGeom prst="line">
            <a:avLst/>
          </a:prstGeom>
          <a:ln cap="flat" w="28575">
            <a:solidFill>
              <a:srgbClr val="968769"/>
            </a:solidFill>
            <a:prstDash val="lgDash"/>
            <a:headEnd type="none" len="sm" w="sm"/>
            <a:tailEnd type="none" len="sm" w="sm"/>
          </a:ln>
        </p:spPr>
      </p:sp>
      <p:sp>
        <p:nvSpPr>
          <p:cNvPr name="AutoShape 10" id="10"/>
          <p:cNvSpPr/>
          <p:nvPr/>
        </p:nvSpPr>
        <p:spPr>
          <a:xfrm flipH="true" flipV="true">
            <a:off x="5243682" y="13088145"/>
            <a:ext cx="1947" cy="1015044"/>
          </a:xfrm>
          <a:prstGeom prst="line">
            <a:avLst/>
          </a:prstGeom>
          <a:ln cap="flat" w="28575">
            <a:solidFill>
              <a:srgbClr val="968769"/>
            </a:solidFill>
            <a:prstDash val="lgDash"/>
            <a:headEnd type="none" len="sm" w="sm"/>
            <a:tailEnd type="none" len="sm" w="sm"/>
          </a:ln>
        </p:spPr>
      </p:sp>
      <p:sp>
        <p:nvSpPr>
          <p:cNvPr name="AutoShape 11" id="11"/>
          <p:cNvSpPr/>
          <p:nvPr/>
        </p:nvSpPr>
        <p:spPr>
          <a:xfrm flipV="true">
            <a:off x="-48485" y="8331282"/>
            <a:ext cx="10950860" cy="27546"/>
          </a:xfrm>
          <a:prstGeom prst="line">
            <a:avLst/>
          </a:prstGeom>
          <a:ln cap="flat" w="28575">
            <a:solidFill>
              <a:srgbClr val="968769"/>
            </a:solidFill>
            <a:prstDash val="lgDash"/>
            <a:headEnd type="none" len="sm" w="sm"/>
            <a:tailEnd type="none" len="sm" w="sm"/>
          </a:ln>
        </p:spPr>
      </p:sp>
      <p:grpSp>
        <p:nvGrpSpPr>
          <p:cNvPr name="Group 12" id="12"/>
          <p:cNvGrpSpPr/>
          <p:nvPr/>
        </p:nvGrpSpPr>
        <p:grpSpPr>
          <a:xfrm rot="0">
            <a:off x="-961919" y="14131764"/>
            <a:ext cx="12705162" cy="1331919"/>
            <a:chOff x="0" y="0"/>
            <a:chExt cx="3219793" cy="337540"/>
          </a:xfrm>
        </p:grpSpPr>
        <p:sp>
          <p:nvSpPr>
            <p:cNvPr name="Freeform 13" id="13"/>
            <p:cNvSpPr/>
            <p:nvPr/>
          </p:nvSpPr>
          <p:spPr>
            <a:xfrm flipH="false" flipV="false" rot="0">
              <a:off x="0" y="0"/>
              <a:ext cx="3219793" cy="337540"/>
            </a:xfrm>
            <a:custGeom>
              <a:avLst/>
              <a:gdLst/>
              <a:ahLst/>
              <a:cxnLst/>
              <a:rect r="r" b="b" t="t" l="l"/>
              <a:pathLst>
                <a:path h="337540" w="3219793">
                  <a:moveTo>
                    <a:pt x="0" y="0"/>
                  </a:moveTo>
                  <a:lnTo>
                    <a:pt x="3219793" y="0"/>
                  </a:lnTo>
                  <a:lnTo>
                    <a:pt x="3219793" y="337540"/>
                  </a:lnTo>
                  <a:lnTo>
                    <a:pt x="0" y="337540"/>
                  </a:lnTo>
                  <a:close/>
                </a:path>
              </a:pathLst>
            </a:custGeom>
            <a:solidFill>
              <a:srgbClr val="567554"/>
            </a:solidFill>
          </p:spPr>
        </p:sp>
        <p:sp>
          <p:nvSpPr>
            <p:cNvPr name="TextBox 14" id="14"/>
            <p:cNvSpPr txBox="true"/>
            <p:nvPr/>
          </p:nvSpPr>
          <p:spPr>
            <a:xfrm>
              <a:off x="0" y="-38100"/>
              <a:ext cx="3219793" cy="375640"/>
            </a:xfrm>
            <a:prstGeom prst="rect">
              <a:avLst/>
            </a:prstGeom>
          </p:spPr>
          <p:txBody>
            <a:bodyPr anchor="ctr" rtlCol="false" tIns="35919" lIns="35919" bIns="35919" rIns="35919"/>
            <a:lstStyle/>
            <a:p>
              <a:pPr algn="ctr">
                <a:lnSpc>
                  <a:spcPts val="2870"/>
                </a:lnSpc>
                <a:spcBef>
                  <a:spcPct val="0"/>
                </a:spcBef>
              </a:pPr>
            </a:p>
          </p:txBody>
        </p:sp>
      </p:grpSp>
      <p:grpSp>
        <p:nvGrpSpPr>
          <p:cNvPr name="Group 15" id="15"/>
          <p:cNvGrpSpPr/>
          <p:nvPr/>
        </p:nvGrpSpPr>
        <p:grpSpPr>
          <a:xfrm rot="0">
            <a:off x="5352621" y="1777663"/>
            <a:ext cx="5216897" cy="6463131"/>
            <a:chOff x="0" y="0"/>
            <a:chExt cx="3922280" cy="4859250"/>
          </a:xfrm>
        </p:grpSpPr>
        <p:sp>
          <p:nvSpPr>
            <p:cNvPr name="Freeform 16" id="16"/>
            <p:cNvSpPr/>
            <p:nvPr/>
          </p:nvSpPr>
          <p:spPr>
            <a:xfrm flipH="false" flipV="false" rot="0">
              <a:off x="0" y="0"/>
              <a:ext cx="3922280" cy="4859250"/>
            </a:xfrm>
            <a:custGeom>
              <a:avLst/>
              <a:gdLst/>
              <a:ahLst/>
              <a:cxnLst/>
              <a:rect r="r" b="b" t="t" l="l"/>
              <a:pathLst>
                <a:path h="4859250" w="3922280">
                  <a:moveTo>
                    <a:pt x="3797820" y="4859250"/>
                  </a:moveTo>
                  <a:lnTo>
                    <a:pt x="124460" y="4859250"/>
                  </a:lnTo>
                  <a:cubicBezTo>
                    <a:pt x="55880" y="4859250"/>
                    <a:pt x="0" y="4803370"/>
                    <a:pt x="0" y="4734790"/>
                  </a:cubicBezTo>
                  <a:lnTo>
                    <a:pt x="0" y="124460"/>
                  </a:lnTo>
                  <a:cubicBezTo>
                    <a:pt x="0" y="55880"/>
                    <a:pt x="55880" y="0"/>
                    <a:pt x="124460" y="0"/>
                  </a:cubicBezTo>
                  <a:lnTo>
                    <a:pt x="3797820" y="0"/>
                  </a:lnTo>
                  <a:cubicBezTo>
                    <a:pt x="3866400" y="0"/>
                    <a:pt x="3922280" y="55880"/>
                    <a:pt x="3922280" y="124460"/>
                  </a:cubicBezTo>
                  <a:lnTo>
                    <a:pt x="3922280" y="4734790"/>
                  </a:lnTo>
                  <a:cubicBezTo>
                    <a:pt x="3922280" y="4803370"/>
                    <a:pt x="3866400" y="4859250"/>
                    <a:pt x="3797820" y="4859250"/>
                  </a:cubicBezTo>
                  <a:close/>
                </a:path>
              </a:pathLst>
            </a:custGeom>
            <a:solidFill>
              <a:srgbClr val="E16E46"/>
            </a:solidFill>
          </p:spPr>
        </p:sp>
      </p:grpSp>
      <p:sp>
        <p:nvSpPr>
          <p:cNvPr name="Freeform 17" id="17"/>
          <p:cNvSpPr/>
          <p:nvPr/>
        </p:nvSpPr>
        <p:spPr>
          <a:xfrm flipH="false" flipV="false" rot="0">
            <a:off x="5137010" y="7825084"/>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0233828" y="1273280"/>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flipV="true">
            <a:off x="5141" y="4102603"/>
            <a:ext cx="5251927" cy="0"/>
          </a:xfrm>
          <a:prstGeom prst="line">
            <a:avLst/>
          </a:prstGeom>
          <a:ln cap="flat" w="28575">
            <a:solidFill>
              <a:srgbClr val="968769"/>
            </a:solidFill>
            <a:prstDash val="lgDash"/>
            <a:headEnd type="none" len="sm" w="sm"/>
            <a:tailEnd type="none" len="sm" w="sm"/>
          </a:ln>
        </p:spPr>
      </p:sp>
      <p:sp>
        <p:nvSpPr>
          <p:cNvPr name="Freeform 20" id="20"/>
          <p:cNvSpPr/>
          <p:nvPr/>
        </p:nvSpPr>
        <p:spPr>
          <a:xfrm flipH="false" flipV="false" rot="-5400000">
            <a:off x="9441280" y="-417396"/>
            <a:ext cx="2089434" cy="1726395"/>
          </a:xfrm>
          <a:custGeom>
            <a:avLst/>
            <a:gdLst/>
            <a:ahLst/>
            <a:cxnLst/>
            <a:rect r="r" b="b" t="t" l="l"/>
            <a:pathLst>
              <a:path h="1726395" w="2089434">
                <a:moveTo>
                  <a:pt x="0" y="0"/>
                </a:moveTo>
                <a:lnTo>
                  <a:pt x="2089434" y="0"/>
                </a:lnTo>
                <a:lnTo>
                  <a:pt x="2089434" y="1726394"/>
                </a:lnTo>
                <a:lnTo>
                  <a:pt x="0" y="17263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false" rot="5400000">
            <a:off x="-548553" y="-448138"/>
            <a:ext cx="2089434" cy="1726395"/>
          </a:xfrm>
          <a:custGeom>
            <a:avLst/>
            <a:gdLst/>
            <a:ahLst/>
            <a:cxnLst/>
            <a:rect r="r" b="b" t="t" l="l"/>
            <a:pathLst>
              <a:path h="1726395" w="2089434">
                <a:moveTo>
                  <a:pt x="2089434" y="0"/>
                </a:moveTo>
                <a:lnTo>
                  <a:pt x="0" y="0"/>
                </a:lnTo>
                <a:lnTo>
                  <a:pt x="0" y="1726394"/>
                </a:lnTo>
                <a:lnTo>
                  <a:pt x="2089434" y="1726394"/>
                </a:lnTo>
                <a:lnTo>
                  <a:pt x="20894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30168" y="415059"/>
            <a:ext cx="2027357" cy="660400"/>
          </a:xfrm>
          <a:custGeom>
            <a:avLst/>
            <a:gdLst/>
            <a:ahLst/>
            <a:cxnLst/>
            <a:rect r="r" b="b" t="t" l="l"/>
            <a:pathLst>
              <a:path h="660400" w="2027357">
                <a:moveTo>
                  <a:pt x="0" y="0"/>
                </a:moveTo>
                <a:lnTo>
                  <a:pt x="2027357" y="0"/>
                </a:lnTo>
                <a:lnTo>
                  <a:pt x="2027357" y="660400"/>
                </a:lnTo>
                <a:lnTo>
                  <a:pt x="0" y="660400"/>
                </a:lnTo>
                <a:lnTo>
                  <a:pt x="0" y="0"/>
                </a:lnTo>
                <a:close/>
              </a:path>
            </a:pathLst>
          </a:custGeom>
          <a:blipFill>
            <a:blip r:embed="rId6"/>
            <a:stretch>
              <a:fillRect l="0" t="0" r="0" b="0"/>
            </a:stretch>
          </a:blipFill>
        </p:spPr>
      </p:sp>
      <p:sp>
        <p:nvSpPr>
          <p:cNvPr name="Freeform 23" id="23"/>
          <p:cNvSpPr/>
          <p:nvPr/>
        </p:nvSpPr>
        <p:spPr>
          <a:xfrm flipH="false" flipV="false" rot="0">
            <a:off x="8532854" y="240750"/>
            <a:ext cx="2036664" cy="1009018"/>
          </a:xfrm>
          <a:custGeom>
            <a:avLst/>
            <a:gdLst/>
            <a:ahLst/>
            <a:cxnLst/>
            <a:rect r="r" b="b" t="t" l="l"/>
            <a:pathLst>
              <a:path h="1009018" w="2036664">
                <a:moveTo>
                  <a:pt x="0" y="0"/>
                </a:moveTo>
                <a:lnTo>
                  <a:pt x="2036664" y="0"/>
                </a:lnTo>
                <a:lnTo>
                  <a:pt x="2036664" y="1009018"/>
                </a:lnTo>
                <a:lnTo>
                  <a:pt x="0" y="1009018"/>
                </a:lnTo>
                <a:lnTo>
                  <a:pt x="0" y="0"/>
                </a:lnTo>
                <a:close/>
              </a:path>
            </a:pathLst>
          </a:custGeom>
          <a:blipFill>
            <a:blip r:embed="rId7"/>
            <a:stretch>
              <a:fillRect l="0" t="0" r="0" b="0"/>
            </a:stretch>
          </a:blipFill>
        </p:spPr>
      </p:sp>
      <p:grpSp>
        <p:nvGrpSpPr>
          <p:cNvPr name="Group 24" id="24"/>
          <p:cNvGrpSpPr/>
          <p:nvPr/>
        </p:nvGrpSpPr>
        <p:grpSpPr>
          <a:xfrm rot="0">
            <a:off x="93990" y="1777663"/>
            <a:ext cx="5074229" cy="2243978"/>
            <a:chOff x="0" y="0"/>
            <a:chExt cx="1285800" cy="568620"/>
          </a:xfrm>
        </p:grpSpPr>
        <p:sp>
          <p:nvSpPr>
            <p:cNvPr name="Freeform 25" id="25"/>
            <p:cNvSpPr/>
            <p:nvPr/>
          </p:nvSpPr>
          <p:spPr>
            <a:xfrm flipH="false" flipV="false" rot="0">
              <a:off x="0" y="0"/>
              <a:ext cx="1285800" cy="568620"/>
            </a:xfrm>
            <a:custGeom>
              <a:avLst/>
              <a:gdLst/>
              <a:ahLst/>
              <a:cxnLst/>
              <a:rect r="r" b="b" t="t" l="l"/>
              <a:pathLst>
                <a:path h="568620" w="1285800">
                  <a:moveTo>
                    <a:pt x="30515" y="0"/>
                  </a:moveTo>
                  <a:lnTo>
                    <a:pt x="1255286" y="0"/>
                  </a:lnTo>
                  <a:cubicBezTo>
                    <a:pt x="1263379" y="0"/>
                    <a:pt x="1271140" y="3215"/>
                    <a:pt x="1276863" y="8938"/>
                  </a:cubicBezTo>
                  <a:cubicBezTo>
                    <a:pt x="1282585" y="14660"/>
                    <a:pt x="1285800" y="22422"/>
                    <a:pt x="1285800" y="30515"/>
                  </a:cubicBezTo>
                  <a:lnTo>
                    <a:pt x="1285800" y="538105"/>
                  </a:lnTo>
                  <a:cubicBezTo>
                    <a:pt x="1285800" y="554958"/>
                    <a:pt x="1272139" y="568620"/>
                    <a:pt x="1255286" y="568620"/>
                  </a:cubicBezTo>
                  <a:lnTo>
                    <a:pt x="30515" y="568620"/>
                  </a:lnTo>
                  <a:cubicBezTo>
                    <a:pt x="13662" y="568620"/>
                    <a:pt x="0" y="554958"/>
                    <a:pt x="0" y="538105"/>
                  </a:cubicBezTo>
                  <a:lnTo>
                    <a:pt x="0" y="30515"/>
                  </a:lnTo>
                  <a:cubicBezTo>
                    <a:pt x="0" y="22422"/>
                    <a:pt x="3215" y="14660"/>
                    <a:pt x="8938" y="8938"/>
                  </a:cubicBezTo>
                  <a:cubicBezTo>
                    <a:pt x="14660" y="3215"/>
                    <a:pt x="22422" y="0"/>
                    <a:pt x="30515" y="0"/>
                  </a:cubicBezTo>
                  <a:close/>
                </a:path>
              </a:pathLst>
            </a:custGeom>
            <a:solidFill>
              <a:srgbClr val="567554"/>
            </a:solidFill>
          </p:spPr>
        </p:sp>
        <p:sp>
          <p:nvSpPr>
            <p:cNvPr name="TextBox 26" id="26"/>
            <p:cNvSpPr txBox="true"/>
            <p:nvPr/>
          </p:nvSpPr>
          <p:spPr>
            <a:xfrm>
              <a:off x="0" y="-38100"/>
              <a:ext cx="1285800" cy="606720"/>
            </a:xfrm>
            <a:prstGeom prst="rect">
              <a:avLst/>
            </a:prstGeom>
          </p:spPr>
          <p:txBody>
            <a:bodyPr anchor="ctr" rtlCol="false" tIns="50800" lIns="50800" bIns="50800" rIns="50800"/>
            <a:lstStyle/>
            <a:p>
              <a:pPr algn="ctr">
                <a:lnSpc>
                  <a:spcPts val="2870"/>
                </a:lnSpc>
              </a:pPr>
            </a:p>
          </p:txBody>
        </p:sp>
      </p:grpSp>
      <p:sp>
        <p:nvSpPr>
          <p:cNvPr name="AutoShape 27" id="27"/>
          <p:cNvSpPr/>
          <p:nvPr/>
        </p:nvSpPr>
        <p:spPr>
          <a:xfrm flipV="true">
            <a:off x="72175" y="13036582"/>
            <a:ext cx="10950860" cy="27546"/>
          </a:xfrm>
          <a:prstGeom prst="line">
            <a:avLst/>
          </a:prstGeom>
          <a:ln cap="flat" w="28575">
            <a:solidFill>
              <a:srgbClr val="968769"/>
            </a:solidFill>
            <a:prstDash val="lgDash"/>
            <a:headEnd type="none" len="sm" w="sm"/>
            <a:tailEnd type="none" len="sm" w="sm"/>
          </a:ln>
        </p:spPr>
      </p:sp>
      <p:sp>
        <p:nvSpPr>
          <p:cNvPr name="AutoShape 28" id="28"/>
          <p:cNvSpPr/>
          <p:nvPr/>
        </p:nvSpPr>
        <p:spPr>
          <a:xfrm flipV="true">
            <a:off x="-122809" y="11942267"/>
            <a:ext cx="10950860" cy="27546"/>
          </a:xfrm>
          <a:prstGeom prst="line">
            <a:avLst/>
          </a:prstGeom>
          <a:ln cap="flat" w="28575">
            <a:solidFill>
              <a:srgbClr val="968769"/>
            </a:solidFill>
            <a:prstDash val="lgDash"/>
            <a:headEnd type="none" len="sm" w="sm"/>
            <a:tailEnd type="none" len="sm" w="sm"/>
          </a:ln>
        </p:spPr>
      </p:sp>
      <p:grpSp>
        <p:nvGrpSpPr>
          <p:cNvPr name="Group 29" id="29"/>
          <p:cNvGrpSpPr/>
          <p:nvPr/>
        </p:nvGrpSpPr>
        <p:grpSpPr>
          <a:xfrm rot="0">
            <a:off x="72175" y="8439790"/>
            <a:ext cx="2356800" cy="3469140"/>
            <a:chOff x="0" y="0"/>
            <a:chExt cx="597209" cy="879074"/>
          </a:xfrm>
        </p:grpSpPr>
        <p:sp>
          <p:nvSpPr>
            <p:cNvPr name="Freeform 30" id="30"/>
            <p:cNvSpPr/>
            <p:nvPr/>
          </p:nvSpPr>
          <p:spPr>
            <a:xfrm flipH="false" flipV="false" rot="0">
              <a:off x="0" y="0"/>
              <a:ext cx="597209" cy="879074"/>
            </a:xfrm>
            <a:custGeom>
              <a:avLst/>
              <a:gdLst/>
              <a:ahLst/>
              <a:cxnLst/>
              <a:rect r="r" b="b" t="t" l="l"/>
              <a:pathLst>
                <a:path h="879074" w="597209">
                  <a:moveTo>
                    <a:pt x="65699" y="0"/>
                  </a:moveTo>
                  <a:lnTo>
                    <a:pt x="531510" y="0"/>
                  </a:lnTo>
                  <a:cubicBezTo>
                    <a:pt x="567795" y="0"/>
                    <a:pt x="597209" y="29414"/>
                    <a:pt x="597209" y="65699"/>
                  </a:cubicBezTo>
                  <a:lnTo>
                    <a:pt x="597209" y="813375"/>
                  </a:lnTo>
                  <a:cubicBezTo>
                    <a:pt x="597209" y="849659"/>
                    <a:pt x="567795" y="879074"/>
                    <a:pt x="531510" y="879074"/>
                  </a:cubicBezTo>
                  <a:lnTo>
                    <a:pt x="65699" y="879074"/>
                  </a:lnTo>
                  <a:cubicBezTo>
                    <a:pt x="29414" y="879074"/>
                    <a:pt x="0" y="849659"/>
                    <a:pt x="0" y="813375"/>
                  </a:cubicBezTo>
                  <a:lnTo>
                    <a:pt x="0" y="65699"/>
                  </a:lnTo>
                  <a:cubicBezTo>
                    <a:pt x="0" y="29414"/>
                    <a:pt x="29414" y="0"/>
                    <a:pt x="65699" y="0"/>
                  </a:cubicBezTo>
                  <a:close/>
                </a:path>
              </a:pathLst>
            </a:custGeom>
            <a:solidFill>
              <a:srgbClr val="8BAC8A"/>
            </a:solidFill>
            <a:ln cap="sq">
              <a:noFill/>
              <a:prstDash val="solid"/>
              <a:miter/>
            </a:ln>
          </p:spPr>
        </p:sp>
        <p:sp>
          <p:nvSpPr>
            <p:cNvPr name="TextBox 31" id="31"/>
            <p:cNvSpPr txBox="true"/>
            <p:nvPr/>
          </p:nvSpPr>
          <p:spPr>
            <a:xfrm>
              <a:off x="0" y="-38100"/>
              <a:ext cx="597209" cy="917174"/>
            </a:xfrm>
            <a:prstGeom prst="rect">
              <a:avLst/>
            </a:prstGeom>
          </p:spPr>
          <p:txBody>
            <a:bodyPr anchor="ctr" rtlCol="false" tIns="50800" lIns="50800" bIns="50800" rIns="50800"/>
            <a:lstStyle/>
            <a:p>
              <a:pPr algn="ctr">
                <a:lnSpc>
                  <a:spcPts val="2870"/>
                </a:lnSpc>
              </a:pPr>
            </a:p>
          </p:txBody>
        </p:sp>
      </p:grpSp>
      <p:sp>
        <p:nvSpPr>
          <p:cNvPr name="Freeform 32" id="32"/>
          <p:cNvSpPr/>
          <p:nvPr/>
        </p:nvSpPr>
        <p:spPr>
          <a:xfrm flipH="false" flipV="false" rot="0">
            <a:off x="130168" y="8529328"/>
            <a:ext cx="2245683" cy="3312516"/>
          </a:xfrm>
          <a:custGeom>
            <a:avLst/>
            <a:gdLst/>
            <a:ahLst/>
            <a:cxnLst/>
            <a:rect r="r" b="b" t="t" l="l"/>
            <a:pathLst>
              <a:path h="3312516" w="2245683">
                <a:moveTo>
                  <a:pt x="0" y="0"/>
                </a:moveTo>
                <a:lnTo>
                  <a:pt x="2245683" y="0"/>
                </a:lnTo>
                <a:lnTo>
                  <a:pt x="2245683" y="3312516"/>
                </a:lnTo>
                <a:lnTo>
                  <a:pt x="0" y="3312516"/>
                </a:lnTo>
                <a:lnTo>
                  <a:pt x="0" y="0"/>
                </a:lnTo>
                <a:close/>
              </a:path>
            </a:pathLst>
          </a:custGeom>
          <a:blipFill>
            <a:blip r:embed="rId8"/>
            <a:stretch>
              <a:fillRect l="0" t="0" r="0" b="0"/>
            </a:stretch>
          </a:blipFill>
        </p:spPr>
      </p:sp>
      <p:sp>
        <p:nvSpPr>
          <p:cNvPr name="Freeform 33" id="33"/>
          <p:cNvSpPr/>
          <p:nvPr/>
        </p:nvSpPr>
        <p:spPr>
          <a:xfrm flipH="false" flipV="false" rot="0">
            <a:off x="2872695" y="9468384"/>
            <a:ext cx="1008295" cy="194748"/>
          </a:xfrm>
          <a:custGeom>
            <a:avLst/>
            <a:gdLst/>
            <a:ahLst/>
            <a:cxnLst/>
            <a:rect r="r" b="b" t="t" l="l"/>
            <a:pathLst>
              <a:path h="194748" w="1008295">
                <a:moveTo>
                  <a:pt x="0" y="0"/>
                </a:moveTo>
                <a:lnTo>
                  <a:pt x="1008295" y="0"/>
                </a:lnTo>
                <a:lnTo>
                  <a:pt x="1008295" y="194749"/>
                </a:lnTo>
                <a:lnTo>
                  <a:pt x="0" y="194749"/>
                </a:lnTo>
                <a:lnTo>
                  <a:pt x="0" y="0"/>
                </a:lnTo>
                <a:close/>
              </a:path>
            </a:pathLst>
          </a:custGeom>
          <a:blipFill>
            <a:blip r:embed="rId9"/>
            <a:stretch>
              <a:fillRect l="0" t="0" r="0" b="0"/>
            </a:stretch>
          </a:blipFill>
        </p:spPr>
      </p:sp>
      <p:sp>
        <p:nvSpPr>
          <p:cNvPr name="Freeform 34" id="34"/>
          <p:cNvSpPr/>
          <p:nvPr/>
        </p:nvSpPr>
        <p:spPr>
          <a:xfrm flipH="false" flipV="false" rot="0">
            <a:off x="2938118" y="10371063"/>
            <a:ext cx="877448" cy="128167"/>
          </a:xfrm>
          <a:custGeom>
            <a:avLst/>
            <a:gdLst/>
            <a:ahLst/>
            <a:cxnLst/>
            <a:rect r="r" b="b" t="t" l="l"/>
            <a:pathLst>
              <a:path h="128167" w="877448">
                <a:moveTo>
                  <a:pt x="0" y="0"/>
                </a:moveTo>
                <a:lnTo>
                  <a:pt x="877448" y="0"/>
                </a:lnTo>
                <a:lnTo>
                  <a:pt x="877448" y="128167"/>
                </a:lnTo>
                <a:lnTo>
                  <a:pt x="0" y="128167"/>
                </a:lnTo>
                <a:lnTo>
                  <a:pt x="0" y="0"/>
                </a:lnTo>
                <a:close/>
              </a:path>
            </a:pathLst>
          </a:custGeom>
          <a:blipFill>
            <a:blip r:embed="rId10"/>
            <a:stretch>
              <a:fillRect l="0" t="0" r="0" b="0"/>
            </a:stretch>
          </a:blipFill>
        </p:spPr>
      </p:sp>
      <p:sp>
        <p:nvSpPr>
          <p:cNvPr name="Freeform 35" id="35"/>
          <p:cNvSpPr/>
          <p:nvPr/>
        </p:nvSpPr>
        <p:spPr>
          <a:xfrm flipH="false" flipV="false" rot="0">
            <a:off x="2548999" y="9675675"/>
            <a:ext cx="1655686" cy="695388"/>
          </a:xfrm>
          <a:custGeom>
            <a:avLst/>
            <a:gdLst/>
            <a:ahLst/>
            <a:cxnLst/>
            <a:rect r="r" b="b" t="t" l="l"/>
            <a:pathLst>
              <a:path h="695388" w="1655686">
                <a:moveTo>
                  <a:pt x="0" y="0"/>
                </a:moveTo>
                <a:lnTo>
                  <a:pt x="1655687" y="0"/>
                </a:lnTo>
                <a:lnTo>
                  <a:pt x="1655687" y="695388"/>
                </a:lnTo>
                <a:lnTo>
                  <a:pt x="0" y="695388"/>
                </a:lnTo>
                <a:lnTo>
                  <a:pt x="0" y="0"/>
                </a:lnTo>
                <a:close/>
              </a:path>
            </a:pathLst>
          </a:custGeom>
          <a:blipFill>
            <a:blip r:embed="rId11"/>
            <a:stretch>
              <a:fillRect l="0" t="0" r="0" b="0"/>
            </a:stretch>
          </a:blipFill>
        </p:spPr>
      </p:sp>
      <p:sp>
        <p:nvSpPr>
          <p:cNvPr name="Freeform 36" id="36"/>
          <p:cNvSpPr/>
          <p:nvPr/>
        </p:nvSpPr>
        <p:spPr>
          <a:xfrm flipH="false" flipV="false" rot="0">
            <a:off x="2548999" y="8663307"/>
            <a:ext cx="1655686" cy="805077"/>
          </a:xfrm>
          <a:custGeom>
            <a:avLst/>
            <a:gdLst/>
            <a:ahLst/>
            <a:cxnLst/>
            <a:rect r="r" b="b" t="t" l="l"/>
            <a:pathLst>
              <a:path h="805077" w="1655686">
                <a:moveTo>
                  <a:pt x="0" y="0"/>
                </a:moveTo>
                <a:lnTo>
                  <a:pt x="1655687" y="0"/>
                </a:lnTo>
                <a:lnTo>
                  <a:pt x="1655687" y="805077"/>
                </a:lnTo>
                <a:lnTo>
                  <a:pt x="0" y="805077"/>
                </a:lnTo>
                <a:lnTo>
                  <a:pt x="0" y="0"/>
                </a:lnTo>
                <a:close/>
              </a:path>
            </a:pathLst>
          </a:custGeom>
          <a:blipFill>
            <a:blip r:embed="rId12"/>
            <a:stretch>
              <a:fillRect l="0" t="0" r="0" b="0"/>
            </a:stretch>
          </a:blipFill>
        </p:spPr>
      </p:sp>
      <p:sp>
        <p:nvSpPr>
          <p:cNvPr name="Freeform 37" id="37"/>
          <p:cNvSpPr/>
          <p:nvPr/>
        </p:nvSpPr>
        <p:spPr>
          <a:xfrm flipH="false" flipV="false" rot="0">
            <a:off x="5225104" y="9063266"/>
            <a:ext cx="605331" cy="217102"/>
          </a:xfrm>
          <a:custGeom>
            <a:avLst/>
            <a:gdLst/>
            <a:ahLst/>
            <a:cxnLst/>
            <a:rect r="r" b="b" t="t" l="l"/>
            <a:pathLst>
              <a:path h="217102" w="605331">
                <a:moveTo>
                  <a:pt x="0" y="0"/>
                </a:moveTo>
                <a:lnTo>
                  <a:pt x="605331" y="0"/>
                </a:lnTo>
                <a:lnTo>
                  <a:pt x="605331" y="217102"/>
                </a:lnTo>
                <a:lnTo>
                  <a:pt x="0" y="217102"/>
                </a:lnTo>
                <a:lnTo>
                  <a:pt x="0" y="0"/>
                </a:lnTo>
                <a:close/>
              </a:path>
            </a:pathLst>
          </a:custGeom>
          <a:blipFill>
            <a:blip r:embed="rId13"/>
            <a:stretch>
              <a:fillRect l="0" t="0" r="0" b="0"/>
            </a:stretch>
          </a:blipFill>
        </p:spPr>
      </p:sp>
      <p:sp>
        <p:nvSpPr>
          <p:cNvPr name="Freeform 38" id="38"/>
          <p:cNvSpPr/>
          <p:nvPr/>
        </p:nvSpPr>
        <p:spPr>
          <a:xfrm flipH="false" flipV="false" rot="0">
            <a:off x="5279751" y="10006811"/>
            <a:ext cx="496037" cy="178775"/>
          </a:xfrm>
          <a:custGeom>
            <a:avLst/>
            <a:gdLst/>
            <a:ahLst/>
            <a:cxnLst/>
            <a:rect r="r" b="b" t="t" l="l"/>
            <a:pathLst>
              <a:path h="178775" w="496037">
                <a:moveTo>
                  <a:pt x="0" y="0"/>
                </a:moveTo>
                <a:lnTo>
                  <a:pt x="496037" y="0"/>
                </a:lnTo>
                <a:lnTo>
                  <a:pt x="496037" y="178775"/>
                </a:lnTo>
                <a:lnTo>
                  <a:pt x="0" y="178775"/>
                </a:lnTo>
                <a:lnTo>
                  <a:pt x="0" y="0"/>
                </a:lnTo>
                <a:close/>
              </a:path>
            </a:pathLst>
          </a:custGeom>
          <a:blipFill>
            <a:blip r:embed="rId14"/>
            <a:stretch>
              <a:fillRect l="0" t="0" r="0" b="0"/>
            </a:stretch>
          </a:blipFill>
        </p:spPr>
      </p:sp>
      <p:sp>
        <p:nvSpPr>
          <p:cNvPr name="Freeform 39" id="39"/>
          <p:cNvSpPr/>
          <p:nvPr/>
        </p:nvSpPr>
        <p:spPr>
          <a:xfrm flipH="false" flipV="false" rot="0">
            <a:off x="4661886" y="9282848"/>
            <a:ext cx="1655686" cy="695388"/>
          </a:xfrm>
          <a:custGeom>
            <a:avLst/>
            <a:gdLst/>
            <a:ahLst/>
            <a:cxnLst/>
            <a:rect r="r" b="b" t="t" l="l"/>
            <a:pathLst>
              <a:path h="695388" w="1655686">
                <a:moveTo>
                  <a:pt x="0" y="0"/>
                </a:moveTo>
                <a:lnTo>
                  <a:pt x="1655686" y="0"/>
                </a:lnTo>
                <a:lnTo>
                  <a:pt x="1655686" y="695388"/>
                </a:lnTo>
                <a:lnTo>
                  <a:pt x="0" y="695388"/>
                </a:lnTo>
                <a:lnTo>
                  <a:pt x="0" y="0"/>
                </a:lnTo>
                <a:close/>
              </a:path>
            </a:pathLst>
          </a:custGeom>
          <a:blipFill>
            <a:blip r:embed="rId15"/>
            <a:stretch>
              <a:fillRect l="0" t="0" r="0" b="0"/>
            </a:stretch>
          </a:blipFill>
        </p:spPr>
      </p:sp>
      <p:sp>
        <p:nvSpPr>
          <p:cNvPr name="Freeform 40" id="40"/>
          <p:cNvSpPr/>
          <p:nvPr/>
        </p:nvSpPr>
        <p:spPr>
          <a:xfrm flipH="false" flipV="false" rot="0">
            <a:off x="6774772" y="8687651"/>
            <a:ext cx="1621672" cy="771208"/>
          </a:xfrm>
          <a:custGeom>
            <a:avLst/>
            <a:gdLst/>
            <a:ahLst/>
            <a:cxnLst/>
            <a:rect r="r" b="b" t="t" l="l"/>
            <a:pathLst>
              <a:path h="771208" w="1621672">
                <a:moveTo>
                  <a:pt x="0" y="0"/>
                </a:moveTo>
                <a:lnTo>
                  <a:pt x="1621671" y="0"/>
                </a:lnTo>
                <a:lnTo>
                  <a:pt x="1621671" y="771208"/>
                </a:lnTo>
                <a:lnTo>
                  <a:pt x="0" y="771208"/>
                </a:lnTo>
                <a:lnTo>
                  <a:pt x="0" y="0"/>
                </a:lnTo>
                <a:close/>
              </a:path>
            </a:pathLst>
          </a:custGeom>
          <a:blipFill>
            <a:blip r:embed="rId16"/>
            <a:stretch>
              <a:fillRect l="0" t="0" r="0" b="-16966"/>
            </a:stretch>
          </a:blipFill>
        </p:spPr>
      </p:sp>
      <p:sp>
        <p:nvSpPr>
          <p:cNvPr name="Freeform 41" id="41"/>
          <p:cNvSpPr/>
          <p:nvPr/>
        </p:nvSpPr>
        <p:spPr>
          <a:xfrm flipH="false" flipV="false" rot="0">
            <a:off x="4661886" y="8706701"/>
            <a:ext cx="1655686" cy="366321"/>
          </a:xfrm>
          <a:custGeom>
            <a:avLst/>
            <a:gdLst/>
            <a:ahLst/>
            <a:cxnLst/>
            <a:rect r="r" b="b" t="t" l="l"/>
            <a:pathLst>
              <a:path h="366321" w="1655686">
                <a:moveTo>
                  <a:pt x="0" y="0"/>
                </a:moveTo>
                <a:lnTo>
                  <a:pt x="1655686" y="0"/>
                </a:lnTo>
                <a:lnTo>
                  <a:pt x="1655686" y="366321"/>
                </a:lnTo>
                <a:lnTo>
                  <a:pt x="0" y="366321"/>
                </a:lnTo>
                <a:lnTo>
                  <a:pt x="0" y="0"/>
                </a:lnTo>
                <a:close/>
              </a:path>
            </a:pathLst>
          </a:custGeom>
          <a:blipFill>
            <a:blip r:embed="rId17"/>
            <a:stretch>
              <a:fillRect l="0" t="0" r="0" b="0"/>
            </a:stretch>
          </a:blipFill>
        </p:spPr>
      </p:sp>
      <p:sp>
        <p:nvSpPr>
          <p:cNvPr name="Freeform 42" id="42"/>
          <p:cNvSpPr/>
          <p:nvPr/>
        </p:nvSpPr>
        <p:spPr>
          <a:xfrm flipH="false" flipV="false" rot="0">
            <a:off x="7245848" y="9468384"/>
            <a:ext cx="679519" cy="162158"/>
          </a:xfrm>
          <a:custGeom>
            <a:avLst/>
            <a:gdLst/>
            <a:ahLst/>
            <a:cxnLst/>
            <a:rect r="r" b="b" t="t" l="l"/>
            <a:pathLst>
              <a:path h="162158" w="679519">
                <a:moveTo>
                  <a:pt x="0" y="0"/>
                </a:moveTo>
                <a:lnTo>
                  <a:pt x="679519" y="0"/>
                </a:lnTo>
                <a:lnTo>
                  <a:pt x="679519" y="162158"/>
                </a:lnTo>
                <a:lnTo>
                  <a:pt x="0" y="162158"/>
                </a:lnTo>
                <a:lnTo>
                  <a:pt x="0" y="0"/>
                </a:lnTo>
                <a:close/>
              </a:path>
            </a:pathLst>
          </a:custGeom>
          <a:blipFill>
            <a:blip r:embed="rId18"/>
            <a:stretch>
              <a:fillRect l="0" t="0" r="0" b="0"/>
            </a:stretch>
          </a:blipFill>
        </p:spPr>
      </p:sp>
      <p:sp>
        <p:nvSpPr>
          <p:cNvPr name="Freeform 43" id="43"/>
          <p:cNvSpPr/>
          <p:nvPr/>
        </p:nvSpPr>
        <p:spPr>
          <a:xfrm flipH="false" flipV="false" rot="0">
            <a:off x="6774772" y="9640067"/>
            <a:ext cx="1621672" cy="251359"/>
          </a:xfrm>
          <a:custGeom>
            <a:avLst/>
            <a:gdLst/>
            <a:ahLst/>
            <a:cxnLst/>
            <a:rect r="r" b="b" t="t" l="l"/>
            <a:pathLst>
              <a:path h="251359" w="1621672">
                <a:moveTo>
                  <a:pt x="0" y="0"/>
                </a:moveTo>
                <a:lnTo>
                  <a:pt x="1621671" y="0"/>
                </a:lnTo>
                <a:lnTo>
                  <a:pt x="1621671" y="251359"/>
                </a:lnTo>
                <a:lnTo>
                  <a:pt x="0" y="251359"/>
                </a:lnTo>
                <a:lnTo>
                  <a:pt x="0" y="0"/>
                </a:lnTo>
                <a:close/>
              </a:path>
            </a:pathLst>
          </a:custGeom>
          <a:blipFill>
            <a:blip r:embed="rId19"/>
            <a:stretch>
              <a:fillRect l="0" t="0" r="0" b="0"/>
            </a:stretch>
          </a:blipFill>
        </p:spPr>
      </p:sp>
      <p:sp>
        <p:nvSpPr>
          <p:cNvPr name="Freeform 44" id="44"/>
          <p:cNvSpPr/>
          <p:nvPr/>
        </p:nvSpPr>
        <p:spPr>
          <a:xfrm flipH="false" flipV="false" rot="0">
            <a:off x="7279179" y="9878192"/>
            <a:ext cx="612858" cy="167806"/>
          </a:xfrm>
          <a:custGeom>
            <a:avLst/>
            <a:gdLst/>
            <a:ahLst/>
            <a:cxnLst/>
            <a:rect r="r" b="b" t="t" l="l"/>
            <a:pathLst>
              <a:path h="167806" w="612858">
                <a:moveTo>
                  <a:pt x="0" y="0"/>
                </a:moveTo>
                <a:lnTo>
                  <a:pt x="612858" y="0"/>
                </a:lnTo>
                <a:lnTo>
                  <a:pt x="612858" y="167807"/>
                </a:lnTo>
                <a:lnTo>
                  <a:pt x="0" y="167807"/>
                </a:lnTo>
                <a:lnTo>
                  <a:pt x="0" y="0"/>
                </a:lnTo>
                <a:close/>
              </a:path>
            </a:pathLst>
          </a:custGeom>
          <a:blipFill>
            <a:blip r:embed="rId20"/>
            <a:stretch>
              <a:fillRect l="0" t="0" r="0" b="0"/>
            </a:stretch>
          </a:blipFill>
        </p:spPr>
      </p:sp>
      <p:sp>
        <p:nvSpPr>
          <p:cNvPr name="Freeform 45" id="45"/>
          <p:cNvSpPr/>
          <p:nvPr/>
        </p:nvSpPr>
        <p:spPr>
          <a:xfrm flipH="false" flipV="false" rot="0">
            <a:off x="8853643" y="8706701"/>
            <a:ext cx="1621672" cy="573666"/>
          </a:xfrm>
          <a:custGeom>
            <a:avLst/>
            <a:gdLst/>
            <a:ahLst/>
            <a:cxnLst/>
            <a:rect r="r" b="b" t="t" l="l"/>
            <a:pathLst>
              <a:path h="573666" w="1621672">
                <a:moveTo>
                  <a:pt x="0" y="0"/>
                </a:moveTo>
                <a:lnTo>
                  <a:pt x="1621672" y="0"/>
                </a:lnTo>
                <a:lnTo>
                  <a:pt x="1621672" y="573667"/>
                </a:lnTo>
                <a:lnTo>
                  <a:pt x="0" y="573667"/>
                </a:lnTo>
                <a:lnTo>
                  <a:pt x="0" y="0"/>
                </a:lnTo>
                <a:close/>
              </a:path>
            </a:pathLst>
          </a:custGeom>
          <a:blipFill>
            <a:blip r:embed="rId21"/>
            <a:stretch>
              <a:fillRect l="0" t="0" r="0" b="0"/>
            </a:stretch>
          </a:blipFill>
        </p:spPr>
      </p:sp>
      <p:sp>
        <p:nvSpPr>
          <p:cNvPr name="Freeform 46" id="46"/>
          <p:cNvSpPr/>
          <p:nvPr/>
        </p:nvSpPr>
        <p:spPr>
          <a:xfrm flipH="false" flipV="false" rot="0">
            <a:off x="9343461" y="9289893"/>
            <a:ext cx="642037" cy="156463"/>
          </a:xfrm>
          <a:custGeom>
            <a:avLst/>
            <a:gdLst/>
            <a:ahLst/>
            <a:cxnLst/>
            <a:rect r="r" b="b" t="t" l="l"/>
            <a:pathLst>
              <a:path h="156463" w="642037">
                <a:moveTo>
                  <a:pt x="0" y="0"/>
                </a:moveTo>
                <a:lnTo>
                  <a:pt x="642037" y="0"/>
                </a:lnTo>
                <a:lnTo>
                  <a:pt x="642037" y="156462"/>
                </a:lnTo>
                <a:lnTo>
                  <a:pt x="0" y="156462"/>
                </a:lnTo>
                <a:lnTo>
                  <a:pt x="0" y="0"/>
                </a:lnTo>
                <a:close/>
              </a:path>
            </a:pathLst>
          </a:custGeom>
          <a:blipFill>
            <a:blip r:embed="rId22"/>
            <a:stretch>
              <a:fillRect l="0" t="0" r="0" b="0"/>
            </a:stretch>
          </a:blipFill>
        </p:spPr>
      </p:sp>
      <p:sp>
        <p:nvSpPr>
          <p:cNvPr name="Freeform 47" id="47"/>
          <p:cNvSpPr/>
          <p:nvPr/>
        </p:nvSpPr>
        <p:spPr>
          <a:xfrm flipH="false" flipV="false" rot="0">
            <a:off x="8853643" y="9487975"/>
            <a:ext cx="1621672" cy="358795"/>
          </a:xfrm>
          <a:custGeom>
            <a:avLst/>
            <a:gdLst/>
            <a:ahLst/>
            <a:cxnLst/>
            <a:rect r="r" b="b" t="t" l="l"/>
            <a:pathLst>
              <a:path h="358795" w="1621672">
                <a:moveTo>
                  <a:pt x="0" y="0"/>
                </a:moveTo>
                <a:lnTo>
                  <a:pt x="1621672" y="0"/>
                </a:lnTo>
                <a:lnTo>
                  <a:pt x="1621672" y="358795"/>
                </a:lnTo>
                <a:lnTo>
                  <a:pt x="0" y="358795"/>
                </a:lnTo>
                <a:lnTo>
                  <a:pt x="0" y="0"/>
                </a:lnTo>
                <a:close/>
              </a:path>
            </a:pathLst>
          </a:custGeom>
          <a:blipFill>
            <a:blip r:embed="rId23"/>
            <a:stretch>
              <a:fillRect l="0" t="0" r="0" b="0"/>
            </a:stretch>
          </a:blipFill>
        </p:spPr>
      </p:sp>
      <p:sp>
        <p:nvSpPr>
          <p:cNvPr name="Freeform 48" id="48"/>
          <p:cNvSpPr/>
          <p:nvPr/>
        </p:nvSpPr>
        <p:spPr>
          <a:xfrm flipH="false" flipV="false" rot="0">
            <a:off x="9131283" y="9922970"/>
            <a:ext cx="1066393" cy="192300"/>
          </a:xfrm>
          <a:custGeom>
            <a:avLst/>
            <a:gdLst/>
            <a:ahLst/>
            <a:cxnLst/>
            <a:rect r="r" b="b" t="t" l="l"/>
            <a:pathLst>
              <a:path h="192300" w="1066393">
                <a:moveTo>
                  <a:pt x="0" y="0"/>
                </a:moveTo>
                <a:lnTo>
                  <a:pt x="1066392" y="0"/>
                </a:lnTo>
                <a:lnTo>
                  <a:pt x="1066392" y="192300"/>
                </a:lnTo>
                <a:lnTo>
                  <a:pt x="0" y="192300"/>
                </a:lnTo>
                <a:lnTo>
                  <a:pt x="0" y="0"/>
                </a:lnTo>
                <a:close/>
              </a:path>
            </a:pathLst>
          </a:custGeom>
          <a:blipFill>
            <a:blip r:embed="rId24"/>
            <a:stretch>
              <a:fillRect l="0" t="0" r="0" b="0"/>
            </a:stretch>
          </a:blipFill>
        </p:spPr>
      </p:sp>
      <p:sp>
        <p:nvSpPr>
          <p:cNvPr name="Freeform 49" id="49"/>
          <p:cNvSpPr/>
          <p:nvPr/>
        </p:nvSpPr>
        <p:spPr>
          <a:xfrm flipH="false" flipV="false" rot="0">
            <a:off x="8853643" y="10150547"/>
            <a:ext cx="1632354" cy="693750"/>
          </a:xfrm>
          <a:custGeom>
            <a:avLst/>
            <a:gdLst/>
            <a:ahLst/>
            <a:cxnLst/>
            <a:rect r="r" b="b" t="t" l="l"/>
            <a:pathLst>
              <a:path h="693750" w="1632354">
                <a:moveTo>
                  <a:pt x="0" y="0"/>
                </a:moveTo>
                <a:lnTo>
                  <a:pt x="1632354" y="0"/>
                </a:lnTo>
                <a:lnTo>
                  <a:pt x="1632354" y="693751"/>
                </a:lnTo>
                <a:lnTo>
                  <a:pt x="0" y="693751"/>
                </a:lnTo>
                <a:lnTo>
                  <a:pt x="0" y="0"/>
                </a:lnTo>
                <a:close/>
              </a:path>
            </a:pathLst>
          </a:custGeom>
          <a:blipFill>
            <a:blip r:embed="rId25"/>
            <a:stretch>
              <a:fillRect l="0" t="0" r="0" b="0"/>
            </a:stretch>
          </a:blipFill>
        </p:spPr>
      </p:sp>
      <p:sp>
        <p:nvSpPr>
          <p:cNvPr name="Freeform 50" id="50"/>
          <p:cNvSpPr/>
          <p:nvPr/>
        </p:nvSpPr>
        <p:spPr>
          <a:xfrm flipH="false" flipV="false" rot="0">
            <a:off x="2548999" y="10675971"/>
            <a:ext cx="1655686" cy="366321"/>
          </a:xfrm>
          <a:custGeom>
            <a:avLst/>
            <a:gdLst/>
            <a:ahLst/>
            <a:cxnLst/>
            <a:rect r="r" b="b" t="t" l="l"/>
            <a:pathLst>
              <a:path h="366321" w="1655686">
                <a:moveTo>
                  <a:pt x="0" y="0"/>
                </a:moveTo>
                <a:lnTo>
                  <a:pt x="1655687" y="0"/>
                </a:lnTo>
                <a:lnTo>
                  <a:pt x="1655687" y="366321"/>
                </a:lnTo>
                <a:lnTo>
                  <a:pt x="0" y="366321"/>
                </a:lnTo>
                <a:lnTo>
                  <a:pt x="0" y="0"/>
                </a:lnTo>
                <a:close/>
              </a:path>
            </a:pathLst>
          </a:custGeom>
          <a:blipFill>
            <a:blip r:embed="rId26"/>
            <a:stretch>
              <a:fillRect l="0" t="0" r="0" b="0"/>
            </a:stretch>
          </a:blipFill>
        </p:spPr>
      </p:sp>
      <p:sp>
        <p:nvSpPr>
          <p:cNvPr name="Freeform 51" id="51"/>
          <p:cNvSpPr/>
          <p:nvPr/>
        </p:nvSpPr>
        <p:spPr>
          <a:xfrm flipH="false" flipV="false" rot="0">
            <a:off x="2894316" y="11061342"/>
            <a:ext cx="986673" cy="128473"/>
          </a:xfrm>
          <a:custGeom>
            <a:avLst/>
            <a:gdLst/>
            <a:ahLst/>
            <a:cxnLst/>
            <a:rect r="r" b="b" t="t" l="l"/>
            <a:pathLst>
              <a:path h="128473" w="986673">
                <a:moveTo>
                  <a:pt x="0" y="0"/>
                </a:moveTo>
                <a:lnTo>
                  <a:pt x="986674" y="0"/>
                </a:lnTo>
                <a:lnTo>
                  <a:pt x="986674" y="128473"/>
                </a:lnTo>
                <a:lnTo>
                  <a:pt x="0" y="128473"/>
                </a:lnTo>
                <a:lnTo>
                  <a:pt x="0" y="0"/>
                </a:lnTo>
                <a:close/>
              </a:path>
            </a:pathLst>
          </a:custGeom>
          <a:blipFill>
            <a:blip r:embed="rId27"/>
            <a:stretch>
              <a:fillRect l="0" t="0" r="0" b="0"/>
            </a:stretch>
          </a:blipFill>
        </p:spPr>
      </p:sp>
      <p:sp>
        <p:nvSpPr>
          <p:cNvPr name="Freeform 52" id="52"/>
          <p:cNvSpPr/>
          <p:nvPr/>
        </p:nvSpPr>
        <p:spPr>
          <a:xfrm flipH="false" flipV="false" rot="0">
            <a:off x="2548999" y="11199340"/>
            <a:ext cx="1655686" cy="374599"/>
          </a:xfrm>
          <a:custGeom>
            <a:avLst/>
            <a:gdLst/>
            <a:ahLst/>
            <a:cxnLst/>
            <a:rect r="r" b="b" t="t" l="l"/>
            <a:pathLst>
              <a:path h="374599" w="1655686">
                <a:moveTo>
                  <a:pt x="0" y="0"/>
                </a:moveTo>
                <a:lnTo>
                  <a:pt x="1655687" y="0"/>
                </a:lnTo>
                <a:lnTo>
                  <a:pt x="1655687" y="374599"/>
                </a:lnTo>
                <a:lnTo>
                  <a:pt x="0" y="374599"/>
                </a:lnTo>
                <a:lnTo>
                  <a:pt x="0" y="0"/>
                </a:lnTo>
                <a:close/>
              </a:path>
            </a:pathLst>
          </a:custGeom>
          <a:blipFill>
            <a:blip r:embed="rId28"/>
            <a:stretch>
              <a:fillRect l="0" t="0" r="0" b="0"/>
            </a:stretch>
          </a:blipFill>
        </p:spPr>
      </p:sp>
      <p:sp>
        <p:nvSpPr>
          <p:cNvPr name="Freeform 53" id="53"/>
          <p:cNvSpPr/>
          <p:nvPr/>
        </p:nvSpPr>
        <p:spPr>
          <a:xfrm flipH="false" flipV="false" rot="0">
            <a:off x="4661886" y="10416105"/>
            <a:ext cx="1655686" cy="476010"/>
          </a:xfrm>
          <a:custGeom>
            <a:avLst/>
            <a:gdLst/>
            <a:ahLst/>
            <a:cxnLst/>
            <a:rect r="r" b="b" t="t" l="l"/>
            <a:pathLst>
              <a:path h="476010" w="1655686">
                <a:moveTo>
                  <a:pt x="0" y="0"/>
                </a:moveTo>
                <a:lnTo>
                  <a:pt x="1655686" y="0"/>
                </a:lnTo>
                <a:lnTo>
                  <a:pt x="1655686" y="476010"/>
                </a:lnTo>
                <a:lnTo>
                  <a:pt x="0" y="476010"/>
                </a:lnTo>
                <a:lnTo>
                  <a:pt x="0" y="0"/>
                </a:lnTo>
                <a:close/>
              </a:path>
            </a:pathLst>
          </a:custGeom>
          <a:blipFill>
            <a:blip r:embed="rId29"/>
            <a:stretch>
              <a:fillRect l="0" t="0" r="0" b="0"/>
            </a:stretch>
          </a:blipFill>
        </p:spPr>
      </p:sp>
      <p:sp>
        <p:nvSpPr>
          <p:cNvPr name="Freeform 54" id="54"/>
          <p:cNvSpPr/>
          <p:nvPr/>
        </p:nvSpPr>
        <p:spPr>
          <a:xfrm flipH="false" flipV="false" rot="0">
            <a:off x="5167974" y="10901640"/>
            <a:ext cx="719591" cy="215332"/>
          </a:xfrm>
          <a:custGeom>
            <a:avLst/>
            <a:gdLst/>
            <a:ahLst/>
            <a:cxnLst/>
            <a:rect r="r" b="b" t="t" l="l"/>
            <a:pathLst>
              <a:path h="215332" w="719591">
                <a:moveTo>
                  <a:pt x="0" y="0"/>
                </a:moveTo>
                <a:lnTo>
                  <a:pt x="719591" y="0"/>
                </a:lnTo>
                <a:lnTo>
                  <a:pt x="719591" y="215332"/>
                </a:lnTo>
                <a:lnTo>
                  <a:pt x="0" y="215332"/>
                </a:lnTo>
                <a:lnTo>
                  <a:pt x="0" y="0"/>
                </a:lnTo>
                <a:close/>
              </a:path>
            </a:pathLst>
          </a:custGeom>
          <a:blipFill>
            <a:blip r:embed="rId30"/>
            <a:stretch>
              <a:fillRect l="0" t="0" r="0" b="0"/>
            </a:stretch>
          </a:blipFill>
        </p:spPr>
      </p:sp>
      <p:sp>
        <p:nvSpPr>
          <p:cNvPr name="Freeform 55" id="55"/>
          <p:cNvSpPr/>
          <p:nvPr/>
        </p:nvSpPr>
        <p:spPr>
          <a:xfrm flipH="false" flipV="false" rot="0">
            <a:off x="4661886" y="11193172"/>
            <a:ext cx="1655686" cy="585699"/>
          </a:xfrm>
          <a:custGeom>
            <a:avLst/>
            <a:gdLst/>
            <a:ahLst/>
            <a:cxnLst/>
            <a:rect r="r" b="b" t="t" l="l"/>
            <a:pathLst>
              <a:path h="585699" w="1655686">
                <a:moveTo>
                  <a:pt x="0" y="0"/>
                </a:moveTo>
                <a:lnTo>
                  <a:pt x="1655686" y="0"/>
                </a:lnTo>
                <a:lnTo>
                  <a:pt x="1655686" y="585699"/>
                </a:lnTo>
                <a:lnTo>
                  <a:pt x="0" y="585699"/>
                </a:lnTo>
                <a:lnTo>
                  <a:pt x="0" y="0"/>
                </a:lnTo>
                <a:close/>
              </a:path>
            </a:pathLst>
          </a:custGeom>
          <a:blipFill>
            <a:blip r:embed="rId31"/>
            <a:stretch>
              <a:fillRect l="0" t="0" r="0" b="0"/>
            </a:stretch>
          </a:blipFill>
        </p:spPr>
      </p:sp>
      <p:sp>
        <p:nvSpPr>
          <p:cNvPr name="Freeform 56" id="56"/>
          <p:cNvSpPr/>
          <p:nvPr/>
        </p:nvSpPr>
        <p:spPr>
          <a:xfrm flipH="false" flipV="false" rot="0">
            <a:off x="6774772" y="10266943"/>
            <a:ext cx="1621672" cy="577355"/>
          </a:xfrm>
          <a:custGeom>
            <a:avLst/>
            <a:gdLst/>
            <a:ahLst/>
            <a:cxnLst/>
            <a:rect r="r" b="b" t="t" l="l"/>
            <a:pathLst>
              <a:path h="577355" w="1621672">
                <a:moveTo>
                  <a:pt x="0" y="0"/>
                </a:moveTo>
                <a:lnTo>
                  <a:pt x="1621671" y="0"/>
                </a:lnTo>
                <a:lnTo>
                  <a:pt x="1621671" y="577355"/>
                </a:lnTo>
                <a:lnTo>
                  <a:pt x="0" y="577355"/>
                </a:lnTo>
                <a:lnTo>
                  <a:pt x="0" y="0"/>
                </a:lnTo>
                <a:close/>
              </a:path>
            </a:pathLst>
          </a:custGeom>
          <a:blipFill>
            <a:blip r:embed="rId32"/>
            <a:stretch>
              <a:fillRect l="0" t="0" r="0" b="-2521"/>
            </a:stretch>
          </a:blipFill>
        </p:spPr>
      </p:sp>
      <p:sp>
        <p:nvSpPr>
          <p:cNvPr name="Freeform 57" id="57"/>
          <p:cNvSpPr/>
          <p:nvPr/>
        </p:nvSpPr>
        <p:spPr>
          <a:xfrm flipH="false" flipV="false" rot="0">
            <a:off x="7117002" y="10962565"/>
            <a:ext cx="937212" cy="219527"/>
          </a:xfrm>
          <a:custGeom>
            <a:avLst/>
            <a:gdLst/>
            <a:ahLst/>
            <a:cxnLst/>
            <a:rect r="r" b="b" t="t" l="l"/>
            <a:pathLst>
              <a:path h="219527" w="937212">
                <a:moveTo>
                  <a:pt x="0" y="0"/>
                </a:moveTo>
                <a:lnTo>
                  <a:pt x="937212" y="0"/>
                </a:lnTo>
                <a:lnTo>
                  <a:pt x="937212" y="219527"/>
                </a:lnTo>
                <a:lnTo>
                  <a:pt x="0" y="219527"/>
                </a:lnTo>
                <a:lnTo>
                  <a:pt x="0" y="0"/>
                </a:lnTo>
                <a:close/>
              </a:path>
            </a:pathLst>
          </a:custGeom>
          <a:blipFill>
            <a:blip r:embed="rId33"/>
            <a:stretch>
              <a:fillRect l="0" t="0" r="0" b="0"/>
            </a:stretch>
          </a:blipFill>
        </p:spPr>
      </p:sp>
      <p:sp>
        <p:nvSpPr>
          <p:cNvPr name="Freeform 58" id="58"/>
          <p:cNvSpPr/>
          <p:nvPr/>
        </p:nvSpPr>
        <p:spPr>
          <a:xfrm flipH="false" flipV="false" rot="0">
            <a:off x="6774772" y="11189815"/>
            <a:ext cx="1621672" cy="231088"/>
          </a:xfrm>
          <a:custGeom>
            <a:avLst/>
            <a:gdLst/>
            <a:ahLst/>
            <a:cxnLst/>
            <a:rect r="r" b="b" t="t" l="l"/>
            <a:pathLst>
              <a:path h="231088" w="1621672">
                <a:moveTo>
                  <a:pt x="0" y="0"/>
                </a:moveTo>
                <a:lnTo>
                  <a:pt x="1621671" y="0"/>
                </a:lnTo>
                <a:lnTo>
                  <a:pt x="1621671" y="231088"/>
                </a:lnTo>
                <a:lnTo>
                  <a:pt x="0" y="231088"/>
                </a:lnTo>
                <a:lnTo>
                  <a:pt x="0" y="0"/>
                </a:lnTo>
                <a:close/>
              </a:path>
            </a:pathLst>
          </a:custGeom>
          <a:blipFill>
            <a:blip r:embed="rId34"/>
            <a:stretch>
              <a:fillRect l="0" t="0" r="0" b="0"/>
            </a:stretch>
          </a:blipFill>
        </p:spPr>
      </p:sp>
      <p:sp>
        <p:nvSpPr>
          <p:cNvPr name="Freeform 59" id="59"/>
          <p:cNvSpPr/>
          <p:nvPr/>
        </p:nvSpPr>
        <p:spPr>
          <a:xfrm flipH="false" flipV="false" rot="0">
            <a:off x="7005147" y="11573939"/>
            <a:ext cx="1243298" cy="270121"/>
          </a:xfrm>
          <a:custGeom>
            <a:avLst/>
            <a:gdLst/>
            <a:ahLst/>
            <a:cxnLst/>
            <a:rect r="r" b="b" t="t" l="l"/>
            <a:pathLst>
              <a:path h="270121" w="1243298">
                <a:moveTo>
                  <a:pt x="0" y="0"/>
                </a:moveTo>
                <a:lnTo>
                  <a:pt x="1243298" y="0"/>
                </a:lnTo>
                <a:lnTo>
                  <a:pt x="1243298" y="270121"/>
                </a:lnTo>
                <a:lnTo>
                  <a:pt x="0" y="270121"/>
                </a:lnTo>
                <a:lnTo>
                  <a:pt x="0" y="0"/>
                </a:lnTo>
                <a:close/>
              </a:path>
            </a:pathLst>
          </a:custGeom>
          <a:blipFill>
            <a:blip r:embed="rId35"/>
            <a:stretch>
              <a:fillRect l="0" t="0" r="0" b="0"/>
            </a:stretch>
          </a:blipFill>
        </p:spPr>
      </p:sp>
      <p:sp>
        <p:nvSpPr>
          <p:cNvPr name="Freeform 60" id="60"/>
          <p:cNvSpPr/>
          <p:nvPr/>
        </p:nvSpPr>
        <p:spPr>
          <a:xfrm flipH="false" flipV="false" rot="0">
            <a:off x="9037528" y="11028647"/>
            <a:ext cx="1264584" cy="164525"/>
          </a:xfrm>
          <a:custGeom>
            <a:avLst/>
            <a:gdLst/>
            <a:ahLst/>
            <a:cxnLst/>
            <a:rect r="r" b="b" t="t" l="l"/>
            <a:pathLst>
              <a:path h="164525" w="1264584">
                <a:moveTo>
                  <a:pt x="0" y="0"/>
                </a:moveTo>
                <a:lnTo>
                  <a:pt x="1264584" y="0"/>
                </a:lnTo>
                <a:lnTo>
                  <a:pt x="1264584" y="164525"/>
                </a:lnTo>
                <a:lnTo>
                  <a:pt x="0" y="164525"/>
                </a:lnTo>
                <a:lnTo>
                  <a:pt x="0" y="0"/>
                </a:lnTo>
                <a:close/>
              </a:path>
            </a:pathLst>
          </a:custGeom>
          <a:blipFill>
            <a:blip r:embed="rId36"/>
            <a:stretch>
              <a:fillRect l="0" t="0" r="0" b="0"/>
            </a:stretch>
          </a:blipFill>
        </p:spPr>
      </p:sp>
      <p:sp>
        <p:nvSpPr>
          <p:cNvPr name="Freeform 61" id="61"/>
          <p:cNvSpPr/>
          <p:nvPr/>
        </p:nvSpPr>
        <p:spPr>
          <a:xfrm flipH="false" flipV="false" rot="0">
            <a:off x="8933092" y="11202697"/>
            <a:ext cx="1552906" cy="456166"/>
          </a:xfrm>
          <a:custGeom>
            <a:avLst/>
            <a:gdLst/>
            <a:ahLst/>
            <a:cxnLst/>
            <a:rect r="r" b="b" t="t" l="l"/>
            <a:pathLst>
              <a:path h="456166" w="1552906">
                <a:moveTo>
                  <a:pt x="0" y="0"/>
                </a:moveTo>
                <a:lnTo>
                  <a:pt x="1552905" y="0"/>
                </a:lnTo>
                <a:lnTo>
                  <a:pt x="1552905" y="456166"/>
                </a:lnTo>
                <a:lnTo>
                  <a:pt x="0" y="456166"/>
                </a:lnTo>
                <a:lnTo>
                  <a:pt x="0" y="0"/>
                </a:lnTo>
                <a:close/>
              </a:path>
            </a:pathLst>
          </a:custGeom>
          <a:blipFill>
            <a:blip r:embed="rId37"/>
            <a:stretch>
              <a:fillRect l="0" t="0" r="0" b="0"/>
            </a:stretch>
          </a:blipFill>
        </p:spPr>
      </p:sp>
      <p:sp>
        <p:nvSpPr>
          <p:cNvPr name="TextBox 62" id="62"/>
          <p:cNvSpPr txBox="true"/>
          <p:nvPr/>
        </p:nvSpPr>
        <p:spPr>
          <a:xfrm rot="0">
            <a:off x="1598932" y="14236566"/>
            <a:ext cx="7494137" cy="433705"/>
          </a:xfrm>
          <a:prstGeom prst="rect">
            <a:avLst/>
          </a:prstGeom>
        </p:spPr>
        <p:txBody>
          <a:bodyPr anchor="t" rtlCol="false" tIns="0" lIns="0" bIns="0" rIns="0">
            <a:spAutoFit/>
          </a:bodyPr>
          <a:lstStyle/>
          <a:p>
            <a:pPr algn="ctr">
              <a:lnSpc>
                <a:spcPts val="1700"/>
              </a:lnSpc>
            </a:pPr>
            <a:r>
              <a:rPr lang="en-US" b="true" sz="1700" spc="17">
                <a:solidFill>
                  <a:srgbClr val="FFFFFF"/>
                </a:solidFill>
                <a:latin typeface="Open Sans Bold"/>
                <a:ea typeface="Open Sans Bold"/>
                <a:cs typeface="Open Sans Bold"/>
                <a:sym typeface="Open Sans Bold"/>
              </a:rPr>
              <a:t>SW40106 PROJEK SAINTIFIK II - PROGRAM MATEMATIK GRAFIK BERKOMPUTER</a:t>
            </a:r>
          </a:p>
        </p:txBody>
      </p:sp>
      <p:sp>
        <p:nvSpPr>
          <p:cNvPr name="TextBox 63" id="63"/>
          <p:cNvSpPr txBox="true"/>
          <p:nvPr/>
        </p:nvSpPr>
        <p:spPr>
          <a:xfrm rot="0">
            <a:off x="4016700" y="8420740"/>
            <a:ext cx="2480737" cy="175895"/>
          </a:xfrm>
          <a:prstGeom prst="rect">
            <a:avLst/>
          </a:prstGeom>
        </p:spPr>
        <p:txBody>
          <a:bodyPr anchor="t" rtlCol="false" tIns="0" lIns="0" bIns="0" rIns="0">
            <a:spAutoFit/>
          </a:bodyPr>
          <a:lstStyle/>
          <a:p>
            <a:pPr algn="ctr">
              <a:lnSpc>
                <a:spcPts val="1299"/>
              </a:lnSpc>
            </a:pPr>
            <a:r>
              <a:rPr lang="en-US" b="true" sz="1299" spc="32">
                <a:solidFill>
                  <a:srgbClr val="657131"/>
                </a:solidFill>
                <a:latin typeface="Open Sans Bold"/>
                <a:ea typeface="Open Sans Bold"/>
                <a:cs typeface="Open Sans Bold"/>
                <a:sym typeface="Open Sans Bold"/>
              </a:rPr>
              <a:t>METHODOLOGI</a:t>
            </a:r>
          </a:p>
        </p:txBody>
      </p:sp>
      <p:sp>
        <p:nvSpPr>
          <p:cNvPr name="TextBox 64" id="64"/>
          <p:cNvSpPr txBox="true"/>
          <p:nvPr/>
        </p:nvSpPr>
        <p:spPr>
          <a:xfrm rot="0">
            <a:off x="3729113" y="12055804"/>
            <a:ext cx="2139287" cy="648557"/>
          </a:xfrm>
          <a:prstGeom prst="rect">
            <a:avLst/>
          </a:prstGeom>
        </p:spPr>
        <p:txBody>
          <a:bodyPr anchor="t" rtlCol="false" tIns="0" lIns="0" bIns="0" rIns="0">
            <a:spAutoFit/>
          </a:bodyPr>
          <a:lstStyle/>
          <a:p>
            <a:pPr algn="ctr">
              <a:lnSpc>
                <a:spcPts val="5024"/>
              </a:lnSpc>
            </a:pPr>
            <a:r>
              <a:rPr lang="en-US" sz="4567" spc="210">
                <a:solidFill>
                  <a:srgbClr val="FFFFFF"/>
                </a:solidFill>
                <a:latin typeface="League Spartan"/>
                <a:ea typeface="League Spartan"/>
                <a:cs typeface="League Spartan"/>
                <a:sym typeface="League Spartan"/>
              </a:rPr>
              <a:t>PEOM</a:t>
            </a:r>
          </a:p>
        </p:txBody>
      </p:sp>
      <p:grpSp>
        <p:nvGrpSpPr>
          <p:cNvPr name="Group 65" id="65"/>
          <p:cNvGrpSpPr/>
          <p:nvPr/>
        </p:nvGrpSpPr>
        <p:grpSpPr>
          <a:xfrm rot="0">
            <a:off x="93990" y="12017704"/>
            <a:ext cx="10475528" cy="976016"/>
            <a:chOff x="0" y="0"/>
            <a:chExt cx="7875937" cy="733809"/>
          </a:xfrm>
        </p:grpSpPr>
        <p:sp>
          <p:nvSpPr>
            <p:cNvPr name="Freeform 66" id="66"/>
            <p:cNvSpPr/>
            <p:nvPr/>
          </p:nvSpPr>
          <p:spPr>
            <a:xfrm flipH="false" flipV="false" rot="0">
              <a:off x="0" y="0"/>
              <a:ext cx="7875937" cy="733809"/>
            </a:xfrm>
            <a:custGeom>
              <a:avLst/>
              <a:gdLst/>
              <a:ahLst/>
              <a:cxnLst/>
              <a:rect r="r" b="b" t="t" l="l"/>
              <a:pathLst>
                <a:path h="733809" w="7875937">
                  <a:moveTo>
                    <a:pt x="7751476" y="733809"/>
                  </a:moveTo>
                  <a:lnTo>
                    <a:pt x="124460" y="733809"/>
                  </a:lnTo>
                  <a:cubicBezTo>
                    <a:pt x="55880" y="733809"/>
                    <a:pt x="0" y="677929"/>
                    <a:pt x="0" y="609349"/>
                  </a:cubicBezTo>
                  <a:lnTo>
                    <a:pt x="0" y="124460"/>
                  </a:lnTo>
                  <a:cubicBezTo>
                    <a:pt x="0" y="55880"/>
                    <a:pt x="55880" y="0"/>
                    <a:pt x="124460" y="0"/>
                  </a:cubicBezTo>
                  <a:lnTo>
                    <a:pt x="7751477" y="0"/>
                  </a:lnTo>
                  <a:cubicBezTo>
                    <a:pt x="7820057" y="0"/>
                    <a:pt x="7875937" y="55880"/>
                    <a:pt x="7875937" y="124460"/>
                  </a:cubicBezTo>
                  <a:lnTo>
                    <a:pt x="7875937" y="609349"/>
                  </a:lnTo>
                  <a:cubicBezTo>
                    <a:pt x="7875937" y="677929"/>
                    <a:pt x="7820057" y="733809"/>
                    <a:pt x="7751477" y="733809"/>
                  </a:cubicBezTo>
                  <a:close/>
                </a:path>
              </a:pathLst>
            </a:custGeom>
            <a:solidFill>
              <a:srgbClr val="E16E46"/>
            </a:solidFill>
          </p:spPr>
        </p:sp>
      </p:grpSp>
      <p:sp>
        <p:nvSpPr>
          <p:cNvPr name="AutoShape 67" id="67"/>
          <p:cNvSpPr/>
          <p:nvPr/>
        </p:nvSpPr>
        <p:spPr>
          <a:xfrm flipH="true">
            <a:off x="2481363" y="10497422"/>
            <a:ext cx="1794760" cy="0"/>
          </a:xfrm>
          <a:prstGeom prst="line">
            <a:avLst/>
          </a:prstGeom>
          <a:ln cap="flat" w="28575">
            <a:solidFill>
              <a:srgbClr val="E16E46"/>
            </a:solidFill>
            <a:prstDash val="lgDash"/>
            <a:headEnd type="none" len="sm" w="sm"/>
            <a:tailEnd type="none" len="sm" w="sm"/>
          </a:ln>
        </p:spPr>
      </p:sp>
      <p:sp>
        <p:nvSpPr>
          <p:cNvPr name="AutoShape 68" id="68"/>
          <p:cNvSpPr/>
          <p:nvPr/>
        </p:nvSpPr>
        <p:spPr>
          <a:xfrm flipH="true" flipV="true">
            <a:off x="2481363" y="10499230"/>
            <a:ext cx="0" cy="1443037"/>
          </a:xfrm>
          <a:prstGeom prst="line">
            <a:avLst/>
          </a:prstGeom>
          <a:ln cap="flat" w="28575">
            <a:solidFill>
              <a:srgbClr val="E16E46"/>
            </a:solidFill>
            <a:prstDash val="lgDash"/>
            <a:headEnd type="none" len="sm" w="sm"/>
            <a:tailEnd type="none" len="sm" w="sm"/>
          </a:ln>
        </p:spPr>
      </p:sp>
      <p:sp>
        <p:nvSpPr>
          <p:cNvPr name="AutoShape 69" id="69"/>
          <p:cNvSpPr/>
          <p:nvPr/>
        </p:nvSpPr>
        <p:spPr>
          <a:xfrm flipV="true">
            <a:off x="4276123" y="10499230"/>
            <a:ext cx="0" cy="1444845"/>
          </a:xfrm>
          <a:prstGeom prst="line">
            <a:avLst/>
          </a:prstGeom>
          <a:ln cap="flat" w="28575">
            <a:solidFill>
              <a:srgbClr val="E16E46"/>
            </a:solidFill>
            <a:prstDash val="lgDash"/>
            <a:headEnd type="none" len="sm" w="sm"/>
            <a:tailEnd type="none" len="sm" w="sm"/>
          </a:ln>
        </p:spPr>
      </p:sp>
      <p:sp>
        <p:nvSpPr>
          <p:cNvPr name="AutoShape 70" id="70"/>
          <p:cNvSpPr/>
          <p:nvPr/>
        </p:nvSpPr>
        <p:spPr>
          <a:xfrm flipH="true">
            <a:off x="4592349" y="10185586"/>
            <a:ext cx="1794760" cy="0"/>
          </a:xfrm>
          <a:prstGeom prst="line">
            <a:avLst/>
          </a:prstGeom>
          <a:ln cap="flat" w="28575">
            <a:solidFill>
              <a:srgbClr val="E16E46"/>
            </a:solidFill>
            <a:prstDash val="lgDash"/>
            <a:headEnd type="none" len="sm" w="sm"/>
            <a:tailEnd type="none" len="sm" w="sm"/>
          </a:ln>
        </p:spPr>
      </p:sp>
      <p:sp>
        <p:nvSpPr>
          <p:cNvPr name="AutoShape 71" id="71"/>
          <p:cNvSpPr/>
          <p:nvPr/>
        </p:nvSpPr>
        <p:spPr>
          <a:xfrm flipH="true" flipV="true">
            <a:off x="4592349" y="8617798"/>
            <a:ext cx="14288" cy="1563483"/>
          </a:xfrm>
          <a:prstGeom prst="line">
            <a:avLst/>
          </a:prstGeom>
          <a:ln cap="flat" w="28575">
            <a:solidFill>
              <a:srgbClr val="E16E46"/>
            </a:solidFill>
            <a:prstDash val="lgDash"/>
            <a:headEnd type="none" len="sm" w="sm"/>
            <a:tailEnd type="none" len="sm" w="sm"/>
          </a:ln>
        </p:spPr>
      </p:sp>
      <p:sp>
        <p:nvSpPr>
          <p:cNvPr name="AutoShape 72" id="72"/>
          <p:cNvSpPr/>
          <p:nvPr/>
        </p:nvSpPr>
        <p:spPr>
          <a:xfrm flipH="true">
            <a:off x="4562901" y="8603511"/>
            <a:ext cx="1794760" cy="0"/>
          </a:xfrm>
          <a:prstGeom prst="line">
            <a:avLst/>
          </a:prstGeom>
          <a:ln cap="flat" w="28575">
            <a:solidFill>
              <a:srgbClr val="E16E46"/>
            </a:solidFill>
            <a:prstDash val="lgDash"/>
            <a:headEnd type="none" len="sm" w="sm"/>
            <a:tailEnd type="none" len="sm" w="sm"/>
          </a:ln>
        </p:spPr>
      </p:sp>
      <p:sp>
        <p:nvSpPr>
          <p:cNvPr name="AutoShape 73" id="73"/>
          <p:cNvSpPr/>
          <p:nvPr/>
        </p:nvSpPr>
        <p:spPr>
          <a:xfrm flipH="true" flipV="true">
            <a:off x="6369959" y="8603642"/>
            <a:ext cx="14288" cy="1563483"/>
          </a:xfrm>
          <a:prstGeom prst="line">
            <a:avLst/>
          </a:prstGeom>
          <a:ln cap="flat" w="28575">
            <a:solidFill>
              <a:srgbClr val="E16E46"/>
            </a:solidFill>
            <a:prstDash val="lgDash"/>
            <a:headEnd type="none" len="sm" w="sm"/>
            <a:tailEnd type="none" len="sm" w="sm"/>
          </a:ln>
        </p:spPr>
      </p:sp>
      <p:sp>
        <p:nvSpPr>
          <p:cNvPr name="AutoShape 74" id="74"/>
          <p:cNvSpPr/>
          <p:nvPr/>
        </p:nvSpPr>
        <p:spPr>
          <a:xfrm flipH="true" flipV="true">
            <a:off x="6720701" y="10096199"/>
            <a:ext cx="25495" cy="1847745"/>
          </a:xfrm>
          <a:prstGeom prst="line">
            <a:avLst/>
          </a:prstGeom>
          <a:ln cap="flat" w="28575">
            <a:solidFill>
              <a:srgbClr val="E16E46"/>
            </a:solidFill>
            <a:prstDash val="lgDash"/>
            <a:headEnd type="none" len="sm" w="sm"/>
            <a:tailEnd type="none" len="sm" w="sm"/>
          </a:ln>
        </p:spPr>
      </p:sp>
      <p:sp>
        <p:nvSpPr>
          <p:cNvPr name="AutoShape 75" id="75"/>
          <p:cNvSpPr/>
          <p:nvPr/>
        </p:nvSpPr>
        <p:spPr>
          <a:xfrm flipH="true">
            <a:off x="6688228" y="10087690"/>
            <a:ext cx="1794760" cy="0"/>
          </a:xfrm>
          <a:prstGeom prst="line">
            <a:avLst/>
          </a:prstGeom>
          <a:ln cap="flat" w="28575">
            <a:solidFill>
              <a:srgbClr val="E16E46"/>
            </a:solidFill>
            <a:prstDash val="lgDash"/>
            <a:headEnd type="none" len="sm" w="sm"/>
            <a:tailEnd type="none" len="sm" w="sm"/>
          </a:ln>
        </p:spPr>
      </p:sp>
      <p:sp>
        <p:nvSpPr>
          <p:cNvPr name="AutoShape 76" id="76"/>
          <p:cNvSpPr/>
          <p:nvPr/>
        </p:nvSpPr>
        <p:spPr>
          <a:xfrm flipH="true" flipV="true">
            <a:off x="8470240" y="10087887"/>
            <a:ext cx="12748" cy="804227"/>
          </a:xfrm>
          <a:prstGeom prst="line">
            <a:avLst/>
          </a:prstGeom>
          <a:ln cap="flat" w="28575">
            <a:solidFill>
              <a:srgbClr val="E16E46"/>
            </a:solidFill>
            <a:prstDash val="lgDash"/>
            <a:headEnd type="none" len="sm" w="sm"/>
            <a:tailEnd type="none" len="sm" w="sm"/>
          </a:ln>
        </p:spPr>
      </p:sp>
      <p:sp>
        <p:nvSpPr>
          <p:cNvPr name="AutoShape 77" id="77"/>
          <p:cNvSpPr/>
          <p:nvPr/>
        </p:nvSpPr>
        <p:spPr>
          <a:xfrm flipH="true">
            <a:off x="8482988" y="10901640"/>
            <a:ext cx="2209012" cy="0"/>
          </a:xfrm>
          <a:prstGeom prst="line">
            <a:avLst/>
          </a:prstGeom>
          <a:ln cap="flat" w="28575">
            <a:solidFill>
              <a:srgbClr val="E16E46"/>
            </a:solidFill>
            <a:prstDash val="lgDash"/>
            <a:headEnd type="none" len="sm" w="sm"/>
            <a:tailEnd type="none" len="sm" w="sm"/>
          </a:ln>
        </p:spPr>
      </p:sp>
      <p:sp>
        <p:nvSpPr>
          <p:cNvPr name="Freeform 78" id="78"/>
          <p:cNvSpPr/>
          <p:nvPr/>
        </p:nvSpPr>
        <p:spPr>
          <a:xfrm flipH="false" flipV="false" rot="0">
            <a:off x="4203420" y="14679796"/>
            <a:ext cx="2285160" cy="374685"/>
          </a:xfrm>
          <a:custGeom>
            <a:avLst/>
            <a:gdLst/>
            <a:ahLst/>
            <a:cxnLst/>
            <a:rect r="r" b="b" t="t" l="l"/>
            <a:pathLst>
              <a:path h="374685" w="2285160">
                <a:moveTo>
                  <a:pt x="0" y="0"/>
                </a:moveTo>
                <a:lnTo>
                  <a:pt x="2285160" y="0"/>
                </a:lnTo>
                <a:lnTo>
                  <a:pt x="2285160" y="374686"/>
                </a:lnTo>
                <a:lnTo>
                  <a:pt x="0" y="374686"/>
                </a:lnTo>
                <a:lnTo>
                  <a:pt x="0" y="0"/>
                </a:lnTo>
                <a:close/>
              </a:path>
            </a:pathLst>
          </a:custGeom>
          <a:blipFill>
            <a:blip r:embed="rId38"/>
            <a:stretch>
              <a:fillRect l="0" t="0" r="0" b="0"/>
            </a:stretch>
          </a:blipFill>
        </p:spPr>
      </p:sp>
      <p:sp>
        <p:nvSpPr>
          <p:cNvPr name="Freeform 79" id="79"/>
          <p:cNvSpPr/>
          <p:nvPr/>
        </p:nvSpPr>
        <p:spPr>
          <a:xfrm flipH="false" flipV="false" rot="0">
            <a:off x="192076" y="14207964"/>
            <a:ext cx="1406856" cy="816523"/>
          </a:xfrm>
          <a:custGeom>
            <a:avLst/>
            <a:gdLst/>
            <a:ahLst/>
            <a:cxnLst/>
            <a:rect r="r" b="b" t="t" l="l"/>
            <a:pathLst>
              <a:path h="816523" w="1406856">
                <a:moveTo>
                  <a:pt x="0" y="0"/>
                </a:moveTo>
                <a:lnTo>
                  <a:pt x="1406856" y="0"/>
                </a:lnTo>
                <a:lnTo>
                  <a:pt x="1406856" y="816523"/>
                </a:lnTo>
                <a:lnTo>
                  <a:pt x="0" y="816523"/>
                </a:lnTo>
                <a:lnTo>
                  <a:pt x="0" y="0"/>
                </a:lnTo>
                <a:close/>
              </a:path>
            </a:pathLst>
          </a:custGeom>
          <a:blipFill>
            <a:blip r:embed="rId39"/>
            <a:stretch>
              <a:fillRect l="0" t="-3361" r="0" b="-3361"/>
            </a:stretch>
          </a:blipFill>
        </p:spPr>
      </p:sp>
      <p:sp>
        <p:nvSpPr>
          <p:cNvPr name="Freeform 80" id="80"/>
          <p:cNvSpPr/>
          <p:nvPr/>
        </p:nvSpPr>
        <p:spPr>
          <a:xfrm flipH="false" flipV="false" rot="0">
            <a:off x="8888768" y="14255076"/>
            <a:ext cx="1680501" cy="664128"/>
          </a:xfrm>
          <a:custGeom>
            <a:avLst/>
            <a:gdLst/>
            <a:ahLst/>
            <a:cxnLst/>
            <a:rect r="r" b="b" t="t" l="l"/>
            <a:pathLst>
              <a:path h="664128" w="1680501">
                <a:moveTo>
                  <a:pt x="0" y="0"/>
                </a:moveTo>
                <a:lnTo>
                  <a:pt x="1680500" y="0"/>
                </a:lnTo>
                <a:lnTo>
                  <a:pt x="1680500" y="664128"/>
                </a:lnTo>
                <a:lnTo>
                  <a:pt x="0" y="664128"/>
                </a:lnTo>
                <a:lnTo>
                  <a:pt x="0" y="0"/>
                </a:lnTo>
                <a:close/>
              </a:path>
            </a:pathLst>
          </a:custGeom>
          <a:blipFill>
            <a:blip r:embed="rId40"/>
            <a:stretch>
              <a:fillRect l="0" t="-40387" r="0" b="-38730"/>
            </a:stretch>
          </a:blipFill>
        </p:spPr>
      </p:sp>
      <p:sp>
        <p:nvSpPr>
          <p:cNvPr name="Freeform 81" id="81"/>
          <p:cNvSpPr/>
          <p:nvPr/>
        </p:nvSpPr>
        <p:spPr>
          <a:xfrm flipH="false" flipV="false" rot="0">
            <a:off x="5453593" y="1914711"/>
            <a:ext cx="2942851" cy="2922555"/>
          </a:xfrm>
          <a:custGeom>
            <a:avLst/>
            <a:gdLst/>
            <a:ahLst/>
            <a:cxnLst/>
            <a:rect r="r" b="b" t="t" l="l"/>
            <a:pathLst>
              <a:path h="2922555" w="2942851">
                <a:moveTo>
                  <a:pt x="0" y="0"/>
                </a:moveTo>
                <a:lnTo>
                  <a:pt x="2942850" y="0"/>
                </a:lnTo>
                <a:lnTo>
                  <a:pt x="2942850" y="2922555"/>
                </a:lnTo>
                <a:lnTo>
                  <a:pt x="0" y="2922555"/>
                </a:lnTo>
                <a:lnTo>
                  <a:pt x="0" y="0"/>
                </a:lnTo>
                <a:close/>
              </a:path>
            </a:pathLst>
          </a:custGeom>
          <a:blipFill>
            <a:blip r:embed="rId41"/>
            <a:stretch>
              <a:fillRect l="0" t="0" r="0" b="0"/>
            </a:stretch>
          </a:blipFill>
        </p:spPr>
      </p:sp>
      <p:sp>
        <p:nvSpPr>
          <p:cNvPr name="Freeform 82" id="82"/>
          <p:cNvSpPr/>
          <p:nvPr/>
        </p:nvSpPr>
        <p:spPr>
          <a:xfrm flipH="false" flipV="false" rot="0">
            <a:off x="5471283" y="5075303"/>
            <a:ext cx="2962718" cy="1204908"/>
          </a:xfrm>
          <a:custGeom>
            <a:avLst/>
            <a:gdLst/>
            <a:ahLst/>
            <a:cxnLst/>
            <a:rect r="r" b="b" t="t" l="l"/>
            <a:pathLst>
              <a:path h="1204908" w="2962718">
                <a:moveTo>
                  <a:pt x="0" y="0"/>
                </a:moveTo>
                <a:lnTo>
                  <a:pt x="2962719" y="0"/>
                </a:lnTo>
                <a:lnTo>
                  <a:pt x="2962719" y="1204909"/>
                </a:lnTo>
                <a:lnTo>
                  <a:pt x="0" y="1204909"/>
                </a:lnTo>
                <a:lnTo>
                  <a:pt x="0" y="0"/>
                </a:lnTo>
                <a:close/>
              </a:path>
            </a:pathLst>
          </a:custGeom>
          <a:blipFill>
            <a:blip r:embed="rId42"/>
            <a:stretch>
              <a:fillRect l="0" t="0" r="0" b="0"/>
            </a:stretch>
          </a:blipFill>
        </p:spPr>
      </p:sp>
      <p:sp>
        <p:nvSpPr>
          <p:cNvPr name="Freeform 83" id="83"/>
          <p:cNvSpPr/>
          <p:nvPr/>
        </p:nvSpPr>
        <p:spPr>
          <a:xfrm flipH="false" flipV="false" rot="0">
            <a:off x="5471283" y="6487899"/>
            <a:ext cx="2980511" cy="1362370"/>
          </a:xfrm>
          <a:custGeom>
            <a:avLst/>
            <a:gdLst/>
            <a:ahLst/>
            <a:cxnLst/>
            <a:rect r="r" b="b" t="t" l="l"/>
            <a:pathLst>
              <a:path h="1362370" w="2980511">
                <a:moveTo>
                  <a:pt x="0" y="0"/>
                </a:moveTo>
                <a:lnTo>
                  <a:pt x="2980512" y="0"/>
                </a:lnTo>
                <a:lnTo>
                  <a:pt x="2980512" y="1362370"/>
                </a:lnTo>
                <a:lnTo>
                  <a:pt x="0" y="1362370"/>
                </a:lnTo>
                <a:lnTo>
                  <a:pt x="0" y="0"/>
                </a:lnTo>
                <a:close/>
              </a:path>
            </a:pathLst>
          </a:custGeom>
          <a:blipFill>
            <a:blip r:embed="rId43"/>
            <a:stretch>
              <a:fillRect l="0" t="0" r="0" b="0"/>
            </a:stretch>
          </a:blipFill>
        </p:spPr>
      </p:sp>
      <p:sp>
        <p:nvSpPr>
          <p:cNvPr name="TextBox 84" id="84"/>
          <p:cNvSpPr txBox="true"/>
          <p:nvPr/>
        </p:nvSpPr>
        <p:spPr>
          <a:xfrm rot="0">
            <a:off x="195958" y="1838511"/>
            <a:ext cx="4870292" cy="2106930"/>
          </a:xfrm>
          <a:prstGeom prst="rect">
            <a:avLst/>
          </a:prstGeom>
        </p:spPr>
        <p:txBody>
          <a:bodyPr anchor="t" rtlCol="false" tIns="0" lIns="0" bIns="0" rIns="0">
            <a:spAutoFit/>
          </a:bodyPr>
          <a:lstStyle/>
          <a:p>
            <a:pPr algn="just">
              <a:lnSpc>
                <a:spcPts val="990"/>
              </a:lnSpc>
            </a:pPr>
            <a:r>
              <a:rPr lang="en-US" b="true" sz="900" spc="22">
                <a:solidFill>
                  <a:srgbClr val="F6E2DB"/>
                </a:solidFill>
                <a:latin typeface="Open Sans Bold"/>
                <a:ea typeface="Open Sans Bold"/>
                <a:cs typeface="Open Sans Bold"/>
                <a:sym typeface="Open Sans Bold"/>
              </a:rPr>
              <a:t>Pendedahan berlebihan semasa pengambilan imej boleh menjejaskan kualiti imej dan menyukarkan proses pemprosesan oleh sistem penglihatan komputer. Fotografi pengiraan, yang telah digunakan secara meluas dalam peranti telefon pintar, berperanan dalam meningkatkan kualiti imej melalui automasi penambahbaikan yang setanding dengan kamera profesional. Kajian ini mengaplikasikan kaedah Dark Channel Prior (DCP) yang digabungkan dengan teknik penyingkiran bunyi non-local means dan unsharp masking bagi menangani masalah pendedahan berlebihan. Unsharp masking berfungsi untuk mempertajam butiran yang hilang, manakala kualiti imej dinilai menggunakan metrik Peak Signal-to-Noise Ratio (PSNR), Structural Similarity Index (SSIM), entropi, dan Colorfulness Index (CI). Hasil kajian menunjukkan peningkatan dalam nilai entropi dan CI, yang menunjukkan kualiti visual yang lebih baik. Walau bagaimanapun, nilai PSNR dan SSIM menunjukkan penurunan disebabkan ketiadaan imej rujukan berkualiti tinggi. Secara keseluruhan, kajian ini memberikan pandangan yang berpotensi untuk memulihkan imej yang terjejas akibat kesan silau, dengan ruang untuk penambahbaikan lanjut dalam penyelidikan masa depan.</a:t>
            </a:r>
          </a:p>
        </p:txBody>
      </p:sp>
      <p:sp>
        <p:nvSpPr>
          <p:cNvPr name="TextBox 85" id="85"/>
          <p:cNvSpPr txBox="true"/>
          <p:nvPr/>
        </p:nvSpPr>
        <p:spPr>
          <a:xfrm rot="0">
            <a:off x="2157525" y="1573193"/>
            <a:ext cx="947159" cy="175895"/>
          </a:xfrm>
          <a:prstGeom prst="rect">
            <a:avLst/>
          </a:prstGeom>
        </p:spPr>
        <p:txBody>
          <a:bodyPr anchor="t" rtlCol="false" tIns="0" lIns="0" bIns="0" rIns="0">
            <a:spAutoFit/>
          </a:bodyPr>
          <a:lstStyle/>
          <a:p>
            <a:pPr algn="ctr">
              <a:lnSpc>
                <a:spcPts val="1299"/>
              </a:lnSpc>
            </a:pPr>
            <a:r>
              <a:rPr lang="en-US" b="true" sz="1299">
                <a:solidFill>
                  <a:srgbClr val="657131"/>
                </a:solidFill>
                <a:latin typeface="Open Sans Bold"/>
                <a:ea typeface="Open Sans Bold"/>
                <a:cs typeface="Open Sans Bold"/>
                <a:sym typeface="Open Sans Bold"/>
              </a:rPr>
              <a:t>ABSTRAK</a:t>
            </a:r>
          </a:p>
        </p:txBody>
      </p:sp>
      <p:sp>
        <p:nvSpPr>
          <p:cNvPr name="TextBox 86" id="86"/>
          <p:cNvSpPr txBox="true"/>
          <p:nvPr/>
        </p:nvSpPr>
        <p:spPr>
          <a:xfrm rot="0">
            <a:off x="5952658" y="4837266"/>
            <a:ext cx="2074291" cy="148590"/>
          </a:xfrm>
          <a:prstGeom prst="rect">
            <a:avLst/>
          </a:prstGeom>
        </p:spPr>
        <p:txBody>
          <a:bodyPr anchor="t" rtlCol="false" tIns="0" lIns="0" bIns="0" rIns="0">
            <a:spAutoFit/>
          </a:bodyPr>
          <a:lstStyle/>
          <a:p>
            <a:pPr algn="l">
              <a:lnSpc>
                <a:spcPts val="1260"/>
              </a:lnSpc>
            </a:pPr>
            <a:r>
              <a:rPr lang="en-US" sz="900" b="true">
                <a:solidFill>
                  <a:srgbClr val="000000"/>
                </a:solidFill>
                <a:latin typeface="Open Sans Bold"/>
                <a:ea typeface="Open Sans Bold"/>
                <a:cs typeface="Open Sans Bold"/>
                <a:sym typeface="Open Sans Bold"/>
              </a:rPr>
              <a:t>Rajah 1 </a:t>
            </a:r>
            <a:r>
              <a:rPr lang="en-US" sz="900">
                <a:solidFill>
                  <a:srgbClr val="000000"/>
                </a:solidFill>
                <a:latin typeface="Open Sans"/>
                <a:ea typeface="Open Sans"/>
                <a:cs typeface="Open Sans"/>
                <a:sym typeface="Open Sans"/>
              </a:rPr>
              <a:t>Sampel Output Dataset STD01</a:t>
            </a:r>
          </a:p>
        </p:txBody>
      </p:sp>
      <p:sp>
        <p:nvSpPr>
          <p:cNvPr name="TextBox 87" id="87"/>
          <p:cNvSpPr txBox="true"/>
          <p:nvPr/>
        </p:nvSpPr>
        <p:spPr>
          <a:xfrm rot="0">
            <a:off x="72915" y="13303092"/>
            <a:ext cx="5064095" cy="800097"/>
          </a:xfrm>
          <a:prstGeom prst="rect">
            <a:avLst/>
          </a:prstGeom>
        </p:spPr>
        <p:txBody>
          <a:bodyPr anchor="t" rtlCol="false" tIns="0" lIns="0" bIns="0" rIns="0">
            <a:spAutoFit/>
          </a:bodyPr>
          <a:lstStyle/>
          <a:p>
            <a:pPr algn="l" marL="194309" indent="-97155" lvl="1">
              <a:lnSpc>
                <a:spcPts val="1079"/>
              </a:lnSpc>
              <a:buAutoNum type="arabicPeriod" startAt="1"/>
            </a:pPr>
            <a:r>
              <a:rPr lang="en-US" sz="899" spc="8">
                <a:solidFill>
                  <a:srgbClr val="000000"/>
                </a:solidFill>
                <a:latin typeface="Open Sans"/>
                <a:ea typeface="Open Sans"/>
                <a:cs typeface="Open Sans"/>
                <a:sym typeface="Open Sans"/>
              </a:rPr>
              <a:t>Ljubisavijevic M. , 20 November 2018, Tips of the week: Adjusting exposure i post processing. DreamsTime </a:t>
            </a:r>
            <a:r>
              <a:rPr lang="en-US" sz="899" spc="8" u="sng">
                <a:solidFill>
                  <a:srgbClr val="000000"/>
                </a:solidFill>
                <a:latin typeface="Open Sans"/>
                <a:ea typeface="Open Sans"/>
                <a:cs typeface="Open Sans"/>
                <a:sym typeface="Open Sans"/>
                <a:hlinkClick r:id="rId44" tooltip="https://www.dreamstime.com/blog/tip-week-adjusting-exposure-post-processing-51136"/>
              </a:rPr>
              <a:t>https://www.dreamstime.com/blog/tip-week-adjusting-exposure-post-processing-51136</a:t>
            </a:r>
            <a:r>
              <a:rPr lang="en-US" sz="899" spc="8">
                <a:solidFill>
                  <a:srgbClr val="000000"/>
                </a:solidFill>
                <a:latin typeface="Open Sans"/>
                <a:ea typeface="Open Sans"/>
                <a:cs typeface="Open Sans"/>
                <a:sym typeface="Open Sans"/>
              </a:rPr>
              <a:t>.</a:t>
            </a:r>
          </a:p>
          <a:p>
            <a:pPr algn="just" marL="194309" indent="-97155" lvl="1">
              <a:lnSpc>
                <a:spcPts val="1079"/>
              </a:lnSpc>
              <a:buAutoNum type="arabicPeriod" startAt="1"/>
            </a:pPr>
            <a:r>
              <a:rPr lang="en-US" sz="899" spc="8">
                <a:solidFill>
                  <a:srgbClr val="000000"/>
                </a:solidFill>
                <a:latin typeface="Open Sans"/>
                <a:ea typeface="Open Sans"/>
                <a:cs typeface="Open Sans"/>
                <a:sym typeface="Open Sans"/>
              </a:rPr>
              <a:t>Wankhede C. , 12 February 2023, What is Computer Photography and Why Does It Matter? Android Authority </a:t>
            </a:r>
            <a:r>
              <a:rPr lang="en-US" sz="899" spc="8" u="sng">
                <a:solidFill>
                  <a:srgbClr val="000000"/>
                </a:solidFill>
                <a:latin typeface="Open Sans"/>
                <a:ea typeface="Open Sans"/>
                <a:cs typeface="Open Sans"/>
                <a:sym typeface="Open Sans"/>
                <a:hlinkClick r:id="rId45" tooltip="https://www.androidauthority.com/what-is-computational-photography-3218656/"/>
              </a:rPr>
              <a:t>https://www.androidauthority.com/what-is-computational-photography-3218656/</a:t>
            </a:r>
            <a:r>
              <a:rPr lang="en-US" sz="899" spc="8">
                <a:solidFill>
                  <a:srgbClr val="000000"/>
                </a:solidFill>
                <a:latin typeface="Open Sans"/>
                <a:ea typeface="Open Sans"/>
                <a:cs typeface="Open Sans"/>
                <a:sym typeface="Open Sans"/>
              </a:rPr>
              <a:t>.</a:t>
            </a:r>
          </a:p>
        </p:txBody>
      </p:sp>
      <p:sp>
        <p:nvSpPr>
          <p:cNvPr name="TextBox 88" id="88"/>
          <p:cNvSpPr txBox="true"/>
          <p:nvPr/>
        </p:nvSpPr>
        <p:spPr>
          <a:xfrm rot="0">
            <a:off x="297927" y="7131871"/>
            <a:ext cx="4870292" cy="1062990"/>
          </a:xfrm>
          <a:prstGeom prst="rect">
            <a:avLst/>
          </a:prstGeom>
        </p:spPr>
        <p:txBody>
          <a:bodyPr anchor="t" rtlCol="false" tIns="0" lIns="0" bIns="0" rIns="0">
            <a:spAutoFit/>
          </a:bodyPr>
          <a:lstStyle/>
          <a:p>
            <a:pPr algn="l" marL="194310" indent="-97155" lvl="1">
              <a:lnSpc>
                <a:spcPts val="1260"/>
              </a:lnSpc>
              <a:buFont typeface="Arial"/>
              <a:buChar char="•"/>
            </a:pPr>
            <a:r>
              <a:rPr lang="en-US" sz="900" spc="9">
                <a:solidFill>
                  <a:srgbClr val="F6E2DB"/>
                </a:solidFill>
                <a:latin typeface="Open Sans"/>
                <a:ea typeface="Open Sans"/>
                <a:cs typeface="Open Sans"/>
                <a:sym typeface="Open Sans"/>
              </a:rPr>
              <a:t>1.Memulihkan kesan keamatan yang berlebihan pada imej dengan menggunakan teknik Saluran Gelap Utama (DCP).</a:t>
            </a:r>
          </a:p>
          <a:p>
            <a:pPr algn="l" marL="194310" indent="-97155" lvl="1">
              <a:lnSpc>
                <a:spcPts val="1260"/>
              </a:lnSpc>
              <a:buFont typeface="Arial"/>
              <a:buChar char="•"/>
            </a:pPr>
            <a:r>
              <a:rPr lang="en-US" sz="900" spc="9">
                <a:solidFill>
                  <a:srgbClr val="F6E2DB"/>
                </a:solidFill>
                <a:latin typeface="Open Sans"/>
                <a:ea typeface="Open Sans"/>
                <a:cs typeface="Open Sans"/>
                <a:sym typeface="Open Sans"/>
              </a:rPr>
              <a:t>2.Mengurangkan hingar pada imej dengan menggunakan Teknik Penyah-hingaran Purata Bukan Tempatan (Non-Local Means Denoising)</a:t>
            </a:r>
          </a:p>
          <a:p>
            <a:pPr algn="l" marL="194310" indent="-97155" lvl="1">
              <a:lnSpc>
                <a:spcPts val="1260"/>
              </a:lnSpc>
              <a:buFont typeface="Arial"/>
              <a:buChar char="•"/>
            </a:pPr>
            <a:r>
              <a:rPr lang="en-US" sz="900" spc="9">
                <a:solidFill>
                  <a:srgbClr val="F6E2DB"/>
                </a:solidFill>
                <a:latin typeface="Open Sans"/>
                <a:ea typeface="Open Sans"/>
                <a:cs typeface="Open Sans"/>
                <a:sym typeface="Open Sans"/>
              </a:rPr>
              <a:t>3.Mengembalikan perincian imej yang hilang akibat keamatan yang berlebihan menggunakan unsharp masking yang dimasukkan ke dalam algoritma pemulihan imej DCP.</a:t>
            </a:r>
          </a:p>
        </p:txBody>
      </p:sp>
      <p:sp>
        <p:nvSpPr>
          <p:cNvPr name="TextBox 89" id="89"/>
          <p:cNvSpPr txBox="true"/>
          <p:nvPr/>
        </p:nvSpPr>
        <p:spPr>
          <a:xfrm rot="0">
            <a:off x="5341865" y="13277813"/>
            <a:ext cx="5296871" cy="758188"/>
          </a:xfrm>
          <a:prstGeom prst="rect">
            <a:avLst/>
          </a:prstGeom>
        </p:spPr>
        <p:txBody>
          <a:bodyPr anchor="t" rtlCol="false" tIns="0" lIns="0" bIns="0" rIns="0">
            <a:spAutoFit/>
          </a:bodyPr>
          <a:lstStyle/>
          <a:p>
            <a:pPr algn="just">
              <a:lnSpc>
                <a:spcPts val="1259"/>
              </a:lnSpc>
            </a:pPr>
            <a:r>
              <a:rPr lang="en-US" sz="899">
                <a:solidFill>
                  <a:srgbClr val="000000"/>
                </a:solidFill>
                <a:latin typeface="Open Sans"/>
                <a:ea typeface="Open Sans"/>
                <a:cs typeface="Open Sans"/>
                <a:sym typeface="Open Sans"/>
              </a:rPr>
              <a:t>Saya ingin mengucapkan ribuan terima kasih kepada penyelia saya, Prof. Dr. Abdullah, atas bimbingan dan bantuan yang diberikan sepanjang tempoh penyiapan disertasi saya. Saya juga ingin menyampaikan penghargaan kepada keluarga dan rakan-rakan yang memberikan sokongan kepada saya semasa menjalani projek tahun akhir saya. Kajian ini tidak akan dapat dilaksanakan tanpa bantuan mereka.</a:t>
            </a:r>
          </a:p>
        </p:txBody>
      </p:sp>
      <p:sp>
        <p:nvSpPr>
          <p:cNvPr name="TextBox 90" id="90"/>
          <p:cNvSpPr txBox="true"/>
          <p:nvPr/>
        </p:nvSpPr>
        <p:spPr>
          <a:xfrm rot="0">
            <a:off x="1857022" y="196388"/>
            <a:ext cx="6991197" cy="464820"/>
          </a:xfrm>
          <a:prstGeom prst="rect">
            <a:avLst/>
          </a:prstGeom>
        </p:spPr>
        <p:txBody>
          <a:bodyPr anchor="t" rtlCol="false" tIns="0" lIns="0" bIns="0" rIns="0">
            <a:spAutoFit/>
          </a:bodyPr>
          <a:lstStyle/>
          <a:p>
            <a:pPr algn="ctr">
              <a:lnSpc>
                <a:spcPts val="1800"/>
              </a:lnSpc>
            </a:pPr>
            <a:r>
              <a:rPr lang="en-US" sz="1800" spc="82">
                <a:solidFill>
                  <a:srgbClr val="FFFFFF"/>
                </a:solidFill>
                <a:latin typeface="League Spartan"/>
                <a:ea typeface="League Spartan"/>
                <a:cs typeface="League Spartan"/>
                <a:sym typeface="League Spartan"/>
              </a:rPr>
              <a:t>SISTEM PEMULIHAN IMEJ BERKEAMATAN TINGGI MENGGUNAKKAN GABUNGAN 3 TEKNIK </a:t>
            </a:r>
          </a:p>
        </p:txBody>
      </p:sp>
      <p:sp>
        <p:nvSpPr>
          <p:cNvPr name="TextBox 91" id="91"/>
          <p:cNvSpPr txBox="true"/>
          <p:nvPr/>
        </p:nvSpPr>
        <p:spPr>
          <a:xfrm rot="0">
            <a:off x="2797591" y="704075"/>
            <a:ext cx="5096817" cy="749300"/>
          </a:xfrm>
          <a:prstGeom prst="rect">
            <a:avLst/>
          </a:prstGeom>
        </p:spPr>
        <p:txBody>
          <a:bodyPr anchor="t" rtlCol="false" tIns="0" lIns="0" bIns="0" rIns="0">
            <a:spAutoFit/>
          </a:bodyPr>
          <a:lstStyle/>
          <a:p>
            <a:pPr algn="ctr">
              <a:lnSpc>
                <a:spcPts val="999"/>
              </a:lnSpc>
            </a:pPr>
            <a:r>
              <a:rPr lang="en-US" b="true" sz="999" spc="24">
                <a:solidFill>
                  <a:srgbClr val="FFFFFF"/>
                </a:solidFill>
                <a:latin typeface="Poppins Medium"/>
                <a:ea typeface="Poppins Medium"/>
                <a:cs typeface="Poppins Medium"/>
                <a:sym typeface="Poppins Medium"/>
              </a:rPr>
              <a:t>GABRIEL DENNIS &amp; ABDULLAH BADE</a:t>
            </a:r>
          </a:p>
          <a:p>
            <a:pPr algn="ctr">
              <a:lnSpc>
                <a:spcPts val="999"/>
              </a:lnSpc>
            </a:pPr>
            <a:r>
              <a:rPr lang="en-US" b="true" sz="999" spc="24">
                <a:solidFill>
                  <a:srgbClr val="FFFFFF"/>
                </a:solidFill>
                <a:latin typeface="Poppins Medium"/>
                <a:ea typeface="Poppins Medium"/>
                <a:cs typeface="Poppins Medium"/>
                <a:sym typeface="Poppins Medium"/>
              </a:rPr>
              <a:t> MATHEMATICS COMPUTER GRAPHICS PROGRAMME</a:t>
            </a:r>
          </a:p>
          <a:p>
            <a:pPr algn="ctr">
              <a:lnSpc>
                <a:spcPts val="999"/>
              </a:lnSpc>
            </a:pPr>
            <a:r>
              <a:rPr lang="en-US" b="true" sz="999" spc="24">
                <a:solidFill>
                  <a:srgbClr val="FFFFFF"/>
                </a:solidFill>
                <a:latin typeface="Poppins Medium"/>
                <a:ea typeface="Poppins Medium"/>
                <a:cs typeface="Poppins Medium"/>
                <a:sym typeface="Poppins Medium"/>
              </a:rPr>
              <a:t>FACULTY OF SCIENCE AND NATURAL RESOURCES</a:t>
            </a:r>
          </a:p>
          <a:p>
            <a:pPr algn="ctr">
              <a:lnSpc>
                <a:spcPts val="999"/>
              </a:lnSpc>
            </a:pPr>
            <a:r>
              <a:rPr lang="en-US" b="true" sz="999" spc="24">
                <a:solidFill>
                  <a:srgbClr val="FFFFFF"/>
                </a:solidFill>
                <a:latin typeface="Poppins Medium"/>
                <a:ea typeface="Poppins Medium"/>
                <a:cs typeface="Poppins Medium"/>
                <a:sym typeface="Poppins Medium"/>
              </a:rPr>
              <a:t>UNIVERSITI MALAYSIA SABAH</a:t>
            </a:r>
          </a:p>
          <a:p>
            <a:pPr algn="ctr">
              <a:lnSpc>
                <a:spcPts val="999"/>
              </a:lnSpc>
            </a:pPr>
            <a:r>
              <a:rPr lang="en-US" sz="999" spc="24">
                <a:solidFill>
                  <a:srgbClr val="FFFFFF"/>
                </a:solidFill>
                <a:latin typeface="Poppins"/>
                <a:ea typeface="Poppins"/>
                <a:cs typeface="Poppins"/>
                <a:sym typeface="Poppins"/>
              </a:rPr>
              <a:t>GABRIEL_DENNIS_BS21@ILUV.UMS.EDU.MY &amp; ABB@UMS.EDU.MY</a:t>
            </a:r>
          </a:p>
          <a:p>
            <a:pPr algn="ctr">
              <a:lnSpc>
                <a:spcPts val="999"/>
              </a:lnSpc>
            </a:pPr>
          </a:p>
        </p:txBody>
      </p:sp>
      <p:sp>
        <p:nvSpPr>
          <p:cNvPr name="TextBox 92" id="92"/>
          <p:cNvSpPr txBox="true"/>
          <p:nvPr/>
        </p:nvSpPr>
        <p:spPr>
          <a:xfrm rot="0">
            <a:off x="6595742" y="1573193"/>
            <a:ext cx="2730654" cy="175895"/>
          </a:xfrm>
          <a:prstGeom prst="rect">
            <a:avLst/>
          </a:prstGeom>
        </p:spPr>
        <p:txBody>
          <a:bodyPr anchor="t" rtlCol="false" tIns="0" lIns="0" bIns="0" rIns="0">
            <a:spAutoFit/>
          </a:bodyPr>
          <a:lstStyle/>
          <a:p>
            <a:pPr algn="l">
              <a:lnSpc>
                <a:spcPts val="1299"/>
              </a:lnSpc>
            </a:pPr>
            <a:r>
              <a:rPr lang="en-US" b="true" sz="1299" spc="-19">
                <a:solidFill>
                  <a:srgbClr val="657131"/>
                </a:solidFill>
                <a:latin typeface="Open Sans Bold"/>
                <a:ea typeface="Open Sans Bold"/>
                <a:cs typeface="Open Sans Bold"/>
                <a:sym typeface="Open Sans Bold"/>
              </a:rPr>
              <a:t>KEPUTUSAN DAN PERBINCANGAN</a:t>
            </a:r>
          </a:p>
        </p:txBody>
      </p:sp>
      <p:sp>
        <p:nvSpPr>
          <p:cNvPr name="TextBox 93" id="93"/>
          <p:cNvSpPr txBox="true"/>
          <p:nvPr/>
        </p:nvSpPr>
        <p:spPr>
          <a:xfrm rot="0">
            <a:off x="195958" y="4426136"/>
            <a:ext cx="4870292" cy="2282190"/>
          </a:xfrm>
          <a:prstGeom prst="rect">
            <a:avLst/>
          </a:prstGeom>
        </p:spPr>
        <p:txBody>
          <a:bodyPr anchor="t" rtlCol="false" tIns="0" lIns="0" bIns="0" rIns="0">
            <a:spAutoFit/>
          </a:bodyPr>
          <a:lstStyle/>
          <a:p>
            <a:pPr algn="just">
              <a:lnSpc>
                <a:spcPts val="1260"/>
              </a:lnSpc>
            </a:pPr>
            <a:r>
              <a:rPr lang="en-US" b="true" sz="900" spc="-9">
                <a:solidFill>
                  <a:srgbClr val="657131"/>
                </a:solidFill>
                <a:latin typeface="Open Sans Bold"/>
                <a:ea typeface="Open Sans Bold"/>
                <a:cs typeface="Open Sans Bold"/>
                <a:sym typeface="Open Sans Bold"/>
              </a:rPr>
              <a:t>Fotografi pengiraan (computational photography) menggunakan algoritma untuk meningkatkan kualiti imej yang diambil oleh telefon pintar, menjadikannya hampir setanding dengan kamera DSLR (Wankhede, 2023). Imej berkeamatan tinggi (overexposed) merujuk kepada imej yang terdedah kepada cahaya berlebihan, menyebabkan imej menjadi tidak jelas dan kehilangan perincian.  Salah satu masalah utama adalah kesan silau, yang menyebabkan hingar imej, terutamanya di kawasan yang lebih gelap, mengubah warna imej dan menyukarkan pengumpulan maklumat. Pemprosesan pasca imej menjadi lebih sukar kerana kualiti imej perlu dipulihkan, memerlukan kepakaran dalam fotografi pengiraan (Ljubisavijevic, 2018). Kajian ini menangani isu imej berkeamatan tinggi, yang disebabkan oleh faktor seperti tetapan kamera yang tidak betul, pencahayaan yang terang, atau dedahan yang tidak tepat, menyebabkan kecerahan berlebihan dan kehilangan perincian. Tujuannya adalah untuk membangunkan sistem pemulihan imej berkecerahan tinggi menggunakan teknik Saluran Gelap Utama (DCP) yang diperbaiki, Purata Penyah-hingaran Bukan Tempatan dan </a:t>
            </a:r>
            <a:r>
              <a:rPr lang="en-US" b="true" sz="900" i="true" spc="-9">
                <a:solidFill>
                  <a:srgbClr val="657131"/>
                </a:solidFill>
                <a:latin typeface="Open Sans Bold Italics"/>
                <a:ea typeface="Open Sans Bold Italics"/>
                <a:cs typeface="Open Sans Bold Italics"/>
                <a:sym typeface="Open Sans Bold Italics"/>
              </a:rPr>
              <a:t>unsharp masking</a:t>
            </a:r>
            <a:r>
              <a:rPr lang="en-US" b="true" sz="900" spc="-9">
                <a:solidFill>
                  <a:srgbClr val="657131"/>
                </a:solidFill>
                <a:latin typeface="Open Sans Bold"/>
                <a:ea typeface="Open Sans Bold"/>
                <a:cs typeface="Open Sans Bold"/>
                <a:sym typeface="Open Sans Bold"/>
              </a:rPr>
              <a:t>.</a:t>
            </a:r>
          </a:p>
        </p:txBody>
      </p:sp>
      <p:sp>
        <p:nvSpPr>
          <p:cNvPr name="TextBox 94" id="94"/>
          <p:cNvSpPr txBox="true"/>
          <p:nvPr/>
        </p:nvSpPr>
        <p:spPr>
          <a:xfrm rot="0">
            <a:off x="746742" y="4202616"/>
            <a:ext cx="3768725" cy="175895"/>
          </a:xfrm>
          <a:prstGeom prst="rect">
            <a:avLst/>
          </a:prstGeom>
        </p:spPr>
        <p:txBody>
          <a:bodyPr anchor="t" rtlCol="false" tIns="0" lIns="0" bIns="0" rIns="0">
            <a:spAutoFit/>
          </a:bodyPr>
          <a:lstStyle/>
          <a:p>
            <a:pPr algn="ctr">
              <a:lnSpc>
                <a:spcPts val="1299"/>
              </a:lnSpc>
            </a:pPr>
            <a:r>
              <a:rPr lang="en-US" b="true" sz="1299" spc="113">
                <a:solidFill>
                  <a:srgbClr val="657131"/>
                </a:solidFill>
                <a:latin typeface="Open Sans Bold"/>
                <a:ea typeface="Open Sans Bold"/>
                <a:cs typeface="Open Sans Bold"/>
                <a:sym typeface="Open Sans Bold"/>
              </a:rPr>
              <a:t>PENGENALAN</a:t>
            </a:r>
          </a:p>
        </p:txBody>
      </p:sp>
      <p:sp>
        <p:nvSpPr>
          <p:cNvPr name="TextBox 95" id="95"/>
          <p:cNvSpPr txBox="true"/>
          <p:nvPr/>
        </p:nvSpPr>
        <p:spPr>
          <a:xfrm rot="0">
            <a:off x="746742" y="6908351"/>
            <a:ext cx="3768725" cy="175895"/>
          </a:xfrm>
          <a:prstGeom prst="rect">
            <a:avLst/>
          </a:prstGeom>
        </p:spPr>
        <p:txBody>
          <a:bodyPr anchor="t" rtlCol="false" tIns="0" lIns="0" bIns="0" rIns="0">
            <a:spAutoFit/>
          </a:bodyPr>
          <a:lstStyle/>
          <a:p>
            <a:pPr algn="ctr">
              <a:lnSpc>
                <a:spcPts val="1299"/>
              </a:lnSpc>
            </a:pPr>
            <a:r>
              <a:rPr lang="en-US" b="true" sz="1299" spc="113">
                <a:solidFill>
                  <a:srgbClr val="657131"/>
                </a:solidFill>
                <a:latin typeface="Open Sans Bold"/>
                <a:ea typeface="Open Sans Bold"/>
                <a:cs typeface="Open Sans Bold"/>
                <a:sym typeface="Open Sans Bold"/>
              </a:rPr>
              <a:t>OBJEKTIF</a:t>
            </a:r>
          </a:p>
        </p:txBody>
      </p:sp>
      <p:sp>
        <p:nvSpPr>
          <p:cNvPr name="TextBox 96" id="96"/>
          <p:cNvSpPr txBox="true"/>
          <p:nvPr/>
        </p:nvSpPr>
        <p:spPr>
          <a:xfrm rot="0">
            <a:off x="4016700" y="12036754"/>
            <a:ext cx="2480737" cy="175895"/>
          </a:xfrm>
          <a:prstGeom prst="rect">
            <a:avLst/>
          </a:prstGeom>
        </p:spPr>
        <p:txBody>
          <a:bodyPr anchor="t" rtlCol="false" tIns="0" lIns="0" bIns="0" rIns="0">
            <a:spAutoFit/>
          </a:bodyPr>
          <a:lstStyle/>
          <a:p>
            <a:pPr algn="ctr">
              <a:lnSpc>
                <a:spcPts val="1299"/>
              </a:lnSpc>
            </a:pPr>
            <a:r>
              <a:rPr lang="en-US" b="true" sz="1299" spc="32">
                <a:solidFill>
                  <a:srgbClr val="3D550C"/>
                </a:solidFill>
                <a:latin typeface="Open Sans Bold"/>
                <a:ea typeface="Open Sans Bold"/>
                <a:cs typeface="Open Sans Bold"/>
                <a:sym typeface="Open Sans Bold"/>
              </a:rPr>
              <a:t>KESIMPULAN</a:t>
            </a:r>
          </a:p>
        </p:txBody>
      </p:sp>
      <p:sp>
        <p:nvSpPr>
          <p:cNvPr name="TextBox 97" id="97"/>
          <p:cNvSpPr txBox="true"/>
          <p:nvPr/>
        </p:nvSpPr>
        <p:spPr>
          <a:xfrm rot="0">
            <a:off x="1390736" y="13120968"/>
            <a:ext cx="2480737" cy="175895"/>
          </a:xfrm>
          <a:prstGeom prst="rect">
            <a:avLst/>
          </a:prstGeom>
        </p:spPr>
        <p:txBody>
          <a:bodyPr anchor="t" rtlCol="false" tIns="0" lIns="0" bIns="0" rIns="0">
            <a:spAutoFit/>
          </a:bodyPr>
          <a:lstStyle/>
          <a:p>
            <a:pPr algn="ctr">
              <a:lnSpc>
                <a:spcPts val="1299"/>
              </a:lnSpc>
            </a:pPr>
            <a:r>
              <a:rPr lang="en-US" b="true" sz="1299" spc="32">
                <a:solidFill>
                  <a:srgbClr val="657131"/>
                </a:solidFill>
                <a:latin typeface="Open Sans Bold"/>
                <a:ea typeface="Open Sans Bold"/>
                <a:cs typeface="Open Sans Bold"/>
                <a:sym typeface="Open Sans Bold"/>
              </a:rPr>
              <a:t>RUJUKAN</a:t>
            </a:r>
          </a:p>
        </p:txBody>
      </p:sp>
      <p:sp>
        <p:nvSpPr>
          <p:cNvPr name="TextBox 98" id="98"/>
          <p:cNvSpPr txBox="true"/>
          <p:nvPr/>
        </p:nvSpPr>
        <p:spPr>
          <a:xfrm rot="0">
            <a:off x="6720701" y="13120968"/>
            <a:ext cx="2480737" cy="175895"/>
          </a:xfrm>
          <a:prstGeom prst="rect">
            <a:avLst/>
          </a:prstGeom>
        </p:spPr>
        <p:txBody>
          <a:bodyPr anchor="t" rtlCol="false" tIns="0" lIns="0" bIns="0" rIns="0">
            <a:spAutoFit/>
          </a:bodyPr>
          <a:lstStyle/>
          <a:p>
            <a:pPr algn="ctr">
              <a:lnSpc>
                <a:spcPts val="1299"/>
              </a:lnSpc>
            </a:pPr>
            <a:r>
              <a:rPr lang="en-US" b="true" sz="1299" spc="32">
                <a:solidFill>
                  <a:srgbClr val="657131"/>
                </a:solidFill>
                <a:latin typeface="Open Sans Bold"/>
                <a:ea typeface="Open Sans Bold"/>
                <a:cs typeface="Open Sans Bold"/>
                <a:sym typeface="Open Sans Bold"/>
              </a:rPr>
              <a:t>PENGHARGAAN</a:t>
            </a:r>
          </a:p>
        </p:txBody>
      </p:sp>
      <p:sp>
        <p:nvSpPr>
          <p:cNvPr name="TextBox 99" id="99"/>
          <p:cNvSpPr txBox="true"/>
          <p:nvPr/>
        </p:nvSpPr>
        <p:spPr>
          <a:xfrm rot="0">
            <a:off x="3054345" y="8572290"/>
            <a:ext cx="644994"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Extrak Saluran Gelap</a:t>
            </a:r>
          </a:p>
        </p:txBody>
      </p:sp>
      <p:sp>
        <p:nvSpPr>
          <p:cNvPr name="TextBox 100" id="100"/>
          <p:cNvSpPr txBox="true"/>
          <p:nvPr/>
        </p:nvSpPr>
        <p:spPr>
          <a:xfrm rot="0">
            <a:off x="5073380" y="8617798"/>
            <a:ext cx="908779"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Mengganggar Nilai Atmosfera</a:t>
            </a:r>
          </a:p>
        </p:txBody>
      </p:sp>
      <p:sp>
        <p:nvSpPr>
          <p:cNvPr name="TextBox 101" id="101"/>
          <p:cNvSpPr txBox="true"/>
          <p:nvPr/>
        </p:nvSpPr>
        <p:spPr>
          <a:xfrm rot="0">
            <a:off x="7131218" y="8608273"/>
            <a:ext cx="908779"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Menggangar Penghantaran</a:t>
            </a:r>
          </a:p>
        </p:txBody>
      </p:sp>
      <p:sp>
        <p:nvSpPr>
          <p:cNvPr name="TextBox 102" id="102"/>
          <p:cNvSpPr txBox="true"/>
          <p:nvPr/>
        </p:nvSpPr>
        <p:spPr>
          <a:xfrm rot="0">
            <a:off x="9184822" y="8617798"/>
            <a:ext cx="959315"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Merangka Penapisan Terpandu</a:t>
            </a:r>
          </a:p>
        </p:txBody>
      </p:sp>
      <p:sp>
        <p:nvSpPr>
          <p:cNvPr name="TextBox 103" id="103"/>
          <p:cNvSpPr txBox="true"/>
          <p:nvPr/>
        </p:nvSpPr>
        <p:spPr>
          <a:xfrm rot="0">
            <a:off x="2874394" y="10575430"/>
            <a:ext cx="1006595"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Penapisan Semula Penghantaran</a:t>
            </a:r>
          </a:p>
        </p:txBody>
      </p:sp>
      <p:sp>
        <p:nvSpPr>
          <p:cNvPr name="TextBox 104" id="104"/>
          <p:cNvSpPr txBox="true"/>
          <p:nvPr/>
        </p:nvSpPr>
        <p:spPr>
          <a:xfrm rot="0">
            <a:off x="5195039" y="10289571"/>
            <a:ext cx="707231"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Penambahbaikan Imej</a:t>
            </a:r>
          </a:p>
        </p:txBody>
      </p:sp>
      <p:sp>
        <p:nvSpPr>
          <p:cNvPr name="TextBox 105" id="105"/>
          <p:cNvSpPr txBox="true"/>
          <p:nvPr/>
        </p:nvSpPr>
        <p:spPr>
          <a:xfrm rot="0">
            <a:off x="7349417" y="10140078"/>
            <a:ext cx="472380" cy="81492"/>
          </a:xfrm>
          <a:prstGeom prst="rect">
            <a:avLst/>
          </a:prstGeom>
        </p:spPr>
        <p:txBody>
          <a:bodyPr anchor="t" rtlCol="false" tIns="0" lIns="0" bIns="0" rIns="0">
            <a:spAutoFit/>
          </a:bodyPr>
          <a:lstStyle/>
          <a:p>
            <a:pPr algn="l">
              <a:lnSpc>
                <a:spcPts val="700"/>
              </a:lnSpc>
            </a:pPr>
            <a:r>
              <a:rPr lang="en-US" sz="500" spc="5">
                <a:solidFill>
                  <a:srgbClr val="000000"/>
                </a:solidFill>
                <a:latin typeface="Open Sans"/>
                <a:ea typeface="Open Sans"/>
                <a:cs typeface="Open Sans"/>
                <a:sym typeface="Open Sans"/>
              </a:rPr>
              <a:t>Pemulihan Imej</a:t>
            </a:r>
          </a:p>
        </p:txBody>
      </p:sp>
      <p:sp>
        <p:nvSpPr>
          <p:cNvPr name="TextBox 106" id="106"/>
          <p:cNvSpPr txBox="true"/>
          <p:nvPr/>
        </p:nvSpPr>
        <p:spPr>
          <a:xfrm rot="0">
            <a:off x="6814035" y="10874645"/>
            <a:ext cx="512565" cy="57573"/>
          </a:xfrm>
          <a:prstGeom prst="rect">
            <a:avLst/>
          </a:prstGeom>
        </p:spPr>
        <p:txBody>
          <a:bodyPr anchor="t" rtlCol="false" tIns="0" lIns="0" bIns="0" rIns="0">
            <a:spAutoFit/>
          </a:bodyPr>
          <a:lstStyle/>
          <a:p>
            <a:pPr algn="l">
              <a:lnSpc>
                <a:spcPts val="560"/>
              </a:lnSpc>
            </a:pPr>
            <a:r>
              <a:rPr lang="en-US" sz="400" spc="4">
                <a:solidFill>
                  <a:srgbClr val="000000"/>
                </a:solidFill>
                <a:latin typeface="Open Sans"/>
                <a:ea typeface="Open Sans"/>
                <a:cs typeface="Open Sans"/>
                <a:sym typeface="Open Sans"/>
              </a:rPr>
              <a:t>Penapisan Bilateral:</a:t>
            </a:r>
          </a:p>
        </p:txBody>
      </p:sp>
      <p:sp>
        <p:nvSpPr>
          <p:cNvPr name="TextBox 107" id="107"/>
          <p:cNvSpPr txBox="true"/>
          <p:nvPr/>
        </p:nvSpPr>
        <p:spPr>
          <a:xfrm rot="0">
            <a:off x="6814035" y="11486021"/>
            <a:ext cx="1055184" cy="57573"/>
          </a:xfrm>
          <a:prstGeom prst="rect">
            <a:avLst/>
          </a:prstGeom>
        </p:spPr>
        <p:txBody>
          <a:bodyPr anchor="t" rtlCol="false" tIns="0" lIns="0" bIns="0" rIns="0">
            <a:spAutoFit/>
          </a:bodyPr>
          <a:lstStyle/>
          <a:p>
            <a:pPr algn="l">
              <a:lnSpc>
                <a:spcPts val="560"/>
              </a:lnSpc>
            </a:pPr>
            <a:r>
              <a:rPr lang="en-US" sz="400" spc="4">
                <a:solidFill>
                  <a:srgbClr val="000000"/>
                </a:solidFill>
                <a:latin typeface="Open Sans"/>
                <a:ea typeface="Open Sans"/>
                <a:cs typeface="Open Sans"/>
                <a:sym typeface="Open Sans"/>
              </a:rPr>
              <a:t>Purata Penyah-hingaran Bukan Tempatan:</a:t>
            </a:r>
          </a:p>
        </p:txBody>
      </p:sp>
      <p:sp>
        <p:nvSpPr>
          <p:cNvPr name="TextBox 108" id="108"/>
          <p:cNvSpPr txBox="true"/>
          <p:nvPr/>
        </p:nvSpPr>
        <p:spPr>
          <a:xfrm rot="0">
            <a:off x="8888768" y="10951732"/>
            <a:ext cx="454693" cy="57573"/>
          </a:xfrm>
          <a:prstGeom prst="rect">
            <a:avLst/>
          </a:prstGeom>
        </p:spPr>
        <p:txBody>
          <a:bodyPr anchor="t" rtlCol="false" tIns="0" lIns="0" bIns="0" rIns="0">
            <a:spAutoFit/>
          </a:bodyPr>
          <a:lstStyle/>
          <a:p>
            <a:pPr algn="l">
              <a:lnSpc>
                <a:spcPts val="560"/>
              </a:lnSpc>
            </a:pPr>
            <a:r>
              <a:rPr lang="en-US" sz="400" i="true" spc="4">
                <a:solidFill>
                  <a:srgbClr val="000000"/>
                </a:solidFill>
                <a:latin typeface="Open Sans Italics"/>
                <a:ea typeface="Open Sans Italics"/>
                <a:cs typeface="Open Sans Italics"/>
                <a:sym typeface="Open Sans Italics"/>
              </a:rPr>
              <a:t>Unsahrp Masking:</a:t>
            </a:r>
          </a:p>
        </p:txBody>
      </p:sp>
      <p:sp>
        <p:nvSpPr>
          <p:cNvPr name="TextBox 109" id="109"/>
          <p:cNvSpPr txBox="true"/>
          <p:nvPr/>
        </p:nvSpPr>
        <p:spPr>
          <a:xfrm rot="0">
            <a:off x="192076" y="12155550"/>
            <a:ext cx="10279356" cy="758188"/>
          </a:xfrm>
          <a:prstGeom prst="rect">
            <a:avLst/>
          </a:prstGeom>
        </p:spPr>
        <p:txBody>
          <a:bodyPr anchor="t" rtlCol="false" tIns="0" lIns="0" bIns="0" rIns="0">
            <a:spAutoFit/>
          </a:bodyPr>
          <a:lstStyle/>
          <a:p>
            <a:pPr algn="just">
              <a:lnSpc>
                <a:spcPts val="1259"/>
              </a:lnSpc>
            </a:pPr>
            <a:r>
              <a:rPr lang="en-US" sz="899">
                <a:solidFill>
                  <a:srgbClr val="000000"/>
                </a:solidFill>
                <a:latin typeface="Open Sans"/>
                <a:ea typeface="Open Sans"/>
                <a:cs typeface="Open Sans"/>
                <a:sym typeface="Open Sans"/>
              </a:rPr>
              <a:t>Sistem yang dibangunkan ini bertujuan untuk meningkatkan kualiti imej nerkeamatan tinggi melalui gabungan kaedah Saluran gelap utama (DCP), purata penyah-hingaran bukan tempatan, dan unsharp masking. Kajian ini bukan sahaja bertujuan untuk menghilangkan kesan terlebih dedah pada imej, malah juga mengurangkan hingar dan meningkatkan detail imej. Proses pengujian melibatkan pelbagai teknik pengukuran imej terlebih dedah. Kepentingan kajian ini terletak pada penyelesaian terhadap cabaran berkaitan kesan terlebih dedah dalam pemulihan imej, sekaligus menawarkan penyelesaian yang bernilai dalam bidang pengkomputeran fotografi. Signifikannya jelas dilihat melalui aplikasi potensial, seperti dalam pengimejan perubatan dan pengawasan, di mana kejelasan dan ketajaman imej amat penting untuk analisis yang tepat.</a:t>
            </a:r>
          </a:p>
        </p:txBody>
      </p:sp>
      <p:sp>
        <p:nvSpPr>
          <p:cNvPr name="TextBox 110" id="110"/>
          <p:cNvSpPr txBox="true"/>
          <p:nvPr/>
        </p:nvSpPr>
        <p:spPr>
          <a:xfrm rot="0">
            <a:off x="5731163" y="6253584"/>
            <a:ext cx="2517282" cy="148590"/>
          </a:xfrm>
          <a:prstGeom prst="rect">
            <a:avLst/>
          </a:prstGeom>
        </p:spPr>
        <p:txBody>
          <a:bodyPr anchor="t" rtlCol="false" tIns="0" lIns="0" bIns="0" rIns="0">
            <a:spAutoFit/>
          </a:bodyPr>
          <a:lstStyle/>
          <a:p>
            <a:pPr algn="l">
              <a:lnSpc>
                <a:spcPts val="1260"/>
              </a:lnSpc>
            </a:pPr>
            <a:r>
              <a:rPr lang="en-US" sz="900" b="true">
                <a:solidFill>
                  <a:srgbClr val="000000"/>
                </a:solidFill>
                <a:latin typeface="Open Sans Bold"/>
                <a:ea typeface="Open Sans Bold"/>
                <a:cs typeface="Open Sans Bold"/>
                <a:sym typeface="Open Sans Bold"/>
              </a:rPr>
              <a:t>Jadual 1 </a:t>
            </a:r>
            <a:r>
              <a:rPr lang="en-US" sz="900">
                <a:solidFill>
                  <a:srgbClr val="000000"/>
                </a:solidFill>
                <a:latin typeface="Open Sans"/>
                <a:ea typeface="Open Sans"/>
                <a:cs typeface="Open Sans"/>
                <a:sym typeface="Open Sans"/>
              </a:rPr>
              <a:t>Nilai PSNR dan SSIM DCP dan DCPX3</a:t>
            </a:r>
          </a:p>
        </p:txBody>
      </p:sp>
      <p:sp>
        <p:nvSpPr>
          <p:cNvPr name="TextBox 111" id="111"/>
          <p:cNvSpPr txBox="true"/>
          <p:nvPr/>
        </p:nvSpPr>
        <p:spPr>
          <a:xfrm rot="0">
            <a:off x="5731163" y="7840744"/>
            <a:ext cx="2517282" cy="300990"/>
          </a:xfrm>
          <a:prstGeom prst="rect">
            <a:avLst/>
          </a:prstGeom>
        </p:spPr>
        <p:txBody>
          <a:bodyPr anchor="t" rtlCol="false" tIns="0" lIns="0" bIns="0" rIns="0">
            <a:spAutoFit/>
          </a:bodyPr>
          <a:lstStyle/>
          <a:p>
            <a:pPr algn="ctr">
              <a:lnSpc>
                <a:spcPts val="1260"/>
              </a:lnSpc>
            </a:pPr>
            <a:r>
              <a:rPr lang="en-US" sz="900" b="true">
                <a:solidFill>
                  <a:srgbClr val="000000"/>
                </a:solidFill>
                <a:latin typeface="Open Sans Bold"/>
                <a:ea typeface="Open Sans Bold"/>
                <a:cs typeface="Open Sans Bold"/>
                <a:sym typeface="Open Sans Bold"/>
              </a:rPr>
              <a:t>Jadual 2 </a:t>
            </a:r>
            <a:r>
              <a:rPr lang="en-US" sz="900">
                <a:solidFill>
                  <a:srgbClr val="000000"/>
                </a:solidFill>
                <a:latin typeface="Open Sans"/>
                <a:ea typeface="Open Sans"/>
                <a:cs typeface="Open Sans"/>
                <a:sym typeface="Open Sans"/>
              </a:rPr>
              <a:t>Nilai Entropi dan CI Imej Input dan Imej Output</a:t>
            </a:r>
          </a:p>
        </p:txBody>
      </p:sp>
      <p:sp>
        <p:nvSpPr>
          <p:cNvPr name="TextBox 112" id="112"/>
          <p:cNvSpPr txBox="true"/>
          <p:nvPr/>
        </p:nvSpPr>
        <p:spPr>
          <a:xfrm rot="0">
            <a:off x="8518470" y="1980269"/>
            <a:ext cx="1907624" cy="6038869"/>
          </a:xfrm>
          <a:prstGeom prst="rect">
            <a:avLst/>
          </a:prstGeom>
        </p:spPr>
        <p:txBody>
          <a:bodyPr anchor="t" rtlCol="false" tIns="0" lIns="0" bIns="0" rIns="0">
            <a:spAutoFit/>
          </a:bodyPr>
          <a:lstStyle/>
          <a:p>
            <a:pPr algn="just">
              <a:lnSpc>
                <a:spcPts val="1160"/>
              </a:lnSpc>
            </a:pPr>
            <a:r>
              <a:rPr lang="en-US" sz="800" b="true">
                <a:solidFill>
                  <a:srgbClr val="000000"/>
                </a:solidFill>
                <a:latin typeface="Open Sans Bold"/>
                <a:ea typeface="Open Sans Bold"/>
                <a:cs typeface="Open Sans Bold"/>
                <a:sym typeface="Open Sans Bold"/>
              </a:rPr>
              <a:t>Berdasarkan Jadual 1, kaedah DCP menunjukkan nilai purata PSNR dan SSIM yang lebih tinggi berbanding DCPX3 bagi semua dataset (STD01 hingga STD06). Contohnya, bagi dataset STD01, purata PSNR DCP ialah 16.74231156 berbanding 14.62082117 untuk DCPX3, manakala purata SSIM DCP ialah 0.86240449 berbanding 0.74327652 untuk DCPX3. Ini menunjukkan DCP memberikan kualiti visual yang lebih baik dari segi pengurangan hingar dan kesamaan dengan imej rujukan. Jika imej rujukan dalam dataset tidak baik, ia boleh menjejaskan hasil kedua-dua teknik. Oleh itu, kajian ini menggunakan entropi dan CI sebagai penanda aras alternatif kerana kedua-duanya tidak memerlukan imej rujukan untuk mengukur kualiti imej hasil.Berdasarkan Jadual 2, terdapat peningkatan ketara dalam nilai entropi dan Colorfulness Index (CI) selepas pemprosesan imej menggunakan kaedah DCPX3. Contohnya, bagi dataset STD01, nilai entropi meningkat dari 6.73712613 kepada 7.54722193, manakala CI meningkat dari 22.05199891 kepada 45.97078059. Ini menunjukkan imej yang diproses mengandungi lebih banyak maklumat dan warna yang lebih hidup berbanding imej asal. Walaupun DCPX3 menunjukkan penurunan nilai PSNR dan SSIM berbanding DCP, kaedah ini berjaya meningkatkan kepelbagaian maklumat dan kualiti warna imej, seperti yang dibuktikan oleh peningkatan nilai entropi dan CI dalam Jadual 2. </a:t>
            </a:r>
          </a:p>
        </p:txBody>
      </p:sp>
      <p:sp>
        <p:nvSpPr>
          <p:cNvPr name="Freeform 113" id="113"/>
          <p:cNvSpPr/>
          <p:nvPr/>
        </p:nvSpPr>
        <p:spPr>
          <a:xfrm flipH="false" flipV="false" rot="0">
            <a:off x="-235047" y="1273280"/>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114" id="114"/>
          <p:cNvSpPr/>
          <p:nvPr/>
        </p:nvSpPr>
        <p:spPr>
          <a:xfrm flipH="false" flipV="false" rot="0">
            <a:off x="4833701" y="3690571"/>
            <a:ext cx="668547" cy="678415"/>
          </a:xfrm>
          <a:custGeom>
            <a:avLst/>
            <a:gdLst/>
            <a:ahLst/>
            <a:cxnLst/>
            <a:rect r="r" b="b" t="t" l="l"/>
            <a:pathLst>
              <a:path h="678415" w="668547">
                <a:moveTo>
                  <a:pt x="0" y="0"/>
                </a:moveTo>
                <a:lnTo>
                  <a:pt x="668547" y="0"/>
                </a:lnTo>
                <a:lnTo>
                  <a:pt x="668547" y="678415"/>
                </a:lnTo>
                <a:lnTo>
                  <a:pt x="0" y="678415"/>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115" id="115"/>
          <p:cNvSpPr/>
          <p:nvPr/>
        </p:nvSpPr>
        <p:spPr>
          <a:xfrm flipH="false" flipV="false" rot="0">
            <a:off x="-204105" y="6647566"/>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116" id="116"/>
          <p:cNvSpPr/>
          <p:nvPr/>
        </p:nvSpPr>
        <p:spPr>
          <a:xfrm flipH="false" flipV="false" rot="0">
            <a:off x="10354488" y="13760717"/>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117" id="117"/>
          <p:cNvSpPr/>
          <p:nvPr/>
        </p:nvSpPr>
        <p:spPr>
          <a:xfrm flipH="false" flipV="false" rot="0">
            <a:off x="-329132" y="11543595"/>
            <a:ext cx="668547" cy="678415"/>
          </a:xfrm>
          <a:custGeom>
            <a:avLst/>
            <a:gdLst/>
            <a:ahLst/>
            <a:cxnLst/>
            <a:rect r="r" b="b" t="t" l="l"/>
            <a:pathLst>
              <a:path h="678415" w="668547">
                <a:moveTo>
                  <a:pt x="0" y="0"/>
                </a:moveTo>
                <a:lnTo>
                  <a:pt x="668547" y="0"/>
                </a:lnTo>
                <a:lnTo>
                  <a:pt x="668547" y="678414"/>
                </a:lnTo>
                <a:lnTo>
                  <a:pt x="0" y="6784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8" id="118"/>
          <p:cNvSpPr/>
          <p:nvPr/>
        </p:nvSpPr>
        <p:spPr>
          <a:xfrm flipH="false" flipV="false" rot="0">
            <a:off x="10321162" y="10548167"/>
            <a:ext cx="668547" cy="678415"/>
          </a:xfrm>
          <a:custGeom>
            <a:avLst/>
            <a:gdLst/>
            <a:ahLst/>
            <a:cxnLst/>
            <a:rect r="r" b="b" t="t" l="l"/>
            <a:pathLst>
              <a:path h="678415" w="668547">
                <a:moveTo>
                  <a:pt x="0" y="0"/>
                </a:moveTo>
                <a:lnTo>
                  <a:pt x="668547" y="0"/>
                </a:lnTo>
                <a:lnTo>
                  <a:pt x="668547" y="678415"/>
                </a:lnTo>
                <a:lnTo>
                  <a:pt x="0" y="678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DAGeRCWy5Yc</dc:identifier>
  <dcterms:modified xsi:type="dcterms:W3CDTF">2011-08-01T06:04:30Z</dcterms:modified>
  <cp:revision>1</cp:revision>
  <dc:title>Green and Orange Organic Illustrative Style International Mother's Day Infographics A3 Poster</dc:title>
</cp:coreProperties>
</file>